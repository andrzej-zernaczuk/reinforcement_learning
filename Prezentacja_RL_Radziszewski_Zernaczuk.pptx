
<file path=[Content_Types].xml><?xml version="1.0" encoding="utf-8"?>
<Types xmlns="http://schemas.openxmlformats.org/package/2006/content-types">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3" r:id="rId2"/>
  </p:sldMasterIdLst>
  <p:notesMasterIdLst>
    <p:notesMasterId r:id="rId21"/>
  </p:notesMasterIdLst>
  <p:sldIdLst>
    <p:sldId id="256" r:id="rId3"/>
    <p:sldId id="264" r:id="rId4"/>
    <p:sldId id="272" r:id="rId5"/>
    <p:sldId id="268" r:id="rId6"/>
    <p:sldId id="265" r:id="rId7"/>
    <p:sldId id="291" r:id="rId8"/>
    <p:sldId id="292" r:id="rId9"/>
    <p:sldId id="293" r:id="rId10"/>
    <p:sldId id="294" r:id="rId11"/>
    <p:sldId id="295" r:id="rId12"/>
    <p:sldId id="296" r:id="rId13"/>
    <p:sldId id="297" r:id="rId14"/>
    <p:sldId id="299" r:id="rId15"/>
    <p:sldId id="300" r:id="rId16"/>
    <p:sldId id="301" r:id="rId17"/>
    <p:sldId id="302" r:id="rId18"/>
    <p:sldId id="303" r:id="rId19"/>
    <p:sldId id="304" r:id="rId2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MqYXPG3odHR07W3JPyjT6FpwE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DA7048-6D07-4708-8B50-DC56079CAE9D}" v="18" dt="2022-10-17T20:16:29.8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5"/>
    <p:restoredTop sz="94635"/>
  </p:normalViewPr>
  <p:slideViewPr>
    <p:cSldViewPr snapToGrid="0">
      <p:cViewPr varScale="1">
        <p:scale>
          <a:sx n="110" d="100"/>
          <a:sy n="110" d="100"/>
        </p:scale>
        <p:origin x="1800" y="17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customschemas.google.com/relationships/presentationmetadata" Target="meta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otr Radziszewski" userId="51e1a861-9e9c-4f30-8d88-60fcbb590066" providerId="ADAL" clId="{38DA7048-6D07-4708-8B50-DC56079CAE9D}"/>
    <pc:docChg chg="undo redo custSel modSld">
      <pc:chgData name="Piotr Radziszewski" userId="51e1a861-9e9c-4f30-8d88-60fcbb590066" providerId="ADAL" clId="{38DA7048-6D07-4708-8B50-DC56079CAE9D}" dt="2022-10-17T20:16:29.872" v="74" actId="1076"/>
      <pc:docMkLst>
        <pc:docMk/>
      </pc:docMkLst>
      <pc:sldChg chg="modSp mod">
        <pc:chgData name="Piotr Radziszewski" userId="51e1a861-9e9c-4f30-8d88-60fcbb590066" providerId="ADAL" clId="{38DA7048-6D07-4708-8B50-DC56079CAE9D}" dt="2022-10-17T15:35:48.676" v="18" actId="1076"/>
        <pc:sldMkLst>
          <pc:docMk/>
          <pc:sldMk cId="0" sldId="256"/>
        </pc:sldMkLst>
        <pc:spChg chg="mod">
          <ac:chgData name="Piotr Radziszewski" userId="51e1a861-9e9c-4f30-8d88-60fcbb590066" providerId="ADAL" clId="{38DA7048-6D07-4708-8B50-DC56079CAE9D}" dt="2022-10-17T15:35:48.676" v="18" actId="1076"/>
          <ac:spMkLst>
            <pc:docMk/>
            <pc:sldMk cId="0" sldId="256"/>
            <ac:spMk id="162" creationId="{00000000-0000-0000-0000-000000000000}"/>
          </ac:spMkLst>
        </pc:spChg>
      </pc:sldChg>
      <pc:sldChg chg="addSp delSp modSp mod">
        <pc:chgData name="Piotr Radziszewski" userId="51e1a861-9e9c-4f30-8d88-60fcbb590066" providerId="ADAL" clId="{38DA7048-6D07-4708-8B50-DC56079CAE9D}" dt="2022-10-17T20:16:29.872" v="74" actId="1076"/>
        <pc:sldMkLst>
          <pc:docMk/>
          <pc:sldMk cId="0" sldId="257"/>
        </pc:sldMkLst>
        <pc:spChg chg="mod">
          <ac:chgData name="Piotr Radziszewski" userId="51e1a861-9e9c-4f30-8d88-60fcbb590066" providerId="ADAL" clId="{38DA7048-6D07-4708-8B50-DC56079CAE9D}" dt="2022-10-17T20:16:25.445" v="72" actId="20577"/>
          <ac:spMkLst>
            <pc:docMk/>
            <pc:sldMk cId="0" sldId="257"/>
            <ac:spMk id="179" creationId="{00000000-0000-0000-0000-000000000000}"/>
          </ac:spMkLst>
        </pc:spChg>
        <pc:spChg chg="mod">
          <ac:chgData name="Piotr Radziszewski" userId="51e1a861-9e9c-4f30-8d88-60fcbb590066" providerId="ADAL" clId="{38DA7048-6D07-4708-8B50-DC56079CAE9D}" dt="2022-10-16T16:01:08.483" v="11" actId="179"/>
          <ac:spMkLst>
            <pc:docMk/>
            <pc:sldMk cId="0" sldId="257"/>
            <ac:spMk id="180" creationId="{00000000-0000-0000-0000-000000000000}"/>
          </ac:spMkLst>
        </pc:spChg>
        <pc:picChg chg="add del">
          <ac:chgData name="Piotr Radziszewski" userId="51e1a861-9e9c-4f30-8d88-60fcbb590066" providerId="ADAL" clId="{38DA7048-6D07-4708-8B50-DC56079CAE9D}" dt="2022-10-17T15:37:40.154" v="47" actId="478"/>
          <ac:picMkLst>
            <pc:docMk/>
            <pc:sldMk cId="0" sldId="257"/>
            <ac:picMk id="1026" creationId="{5552AC11-B575-056E-23AC-78B207883CA1}"/>
          </ac:picMkLst>
        </pc:picChg>
        <pc:picChg chg="add mod">
          <ac:chgData name="Piotr Radziszewski" userId="51e1a861-9e9c-4f30-8d88-60fcbb590066" providerId="ADAL" clId="{38DA7048-6D07-4708-8B50-DC56079CAE9D}" dt="2022-10-17T20:16:29.872" v="74" actId="1076"/>
          <ac:picMkLst>
            <pc:docMk/>
            <pc:sldMk cId="0" sldId="257"/>
            <ac:picMk id="1028" creationId="{AE421D10-DFD8-9DF2-DAC6-BE08C336D0A3}"/>
          </ac:picMkLst>
        </pc:picChg>
      </pc:sldChg>
      <pc:sldChg chg="modSp mod">
        <pc:chgData name="Piotr Radziszewski" userId="51e1a861-9e9c-4f30-8d88-60fcbb590066" providerId="ADAL" clId="{38DA7048-6D07-4708-8B50-DC56079CAE9D}" dt="2022-10-16T16:01:11.845" v="13" actId="1076"/>
        <pc:sldMkLst>
          <pc:docMk/>
          <pc:sldMk cId="0" sldId="258"/>
        </pc:sldMkLst>
        <pc:spChg chg="mod">
          <ac:chgData name="Piotr Radziszewski" userId="51e1a861-9e9c-4f30-8d88-60fcbb590066" providerId="ADAL" clId="{38DA7048-6D07-4708-8B50-DC56079CAE9D}" dt="2022-10-16T16:01:11.845" v="13" actId="1076"/>
          <ac:spMkLst>
            <pc:docMk/>
            <pc:sldMk cId="0" sldId="258"/>
            <ac:spMk id="4" creationId="{5D5CC718-F4A6-3D4B-E811-1E1BA46E69D7}"/>
          </ac:spMkLst>
        </pc:spChg>
      </pc:sldChg>
      <pc:sldChg chg="modSp mod">
        <pc:chgData name="Piotr Radziszewski" userId="51e1a861-9e9c-4f30-8d88-60fcbb590066" providerId="ADAL" clId="{38DA7048-6D07-4708-8B50-DC56079CAE9D}" dt="2022-10-17T20:12:22.217" v="71" actId="20577"/>
        <pc:sldMkLst>
          <pc:docMk/>
          <pc:sldMk cId="26866841" sldId="264"/>
        </pc:sldMkLst>
        <pc:spChg chg="mod">
          <ac:chgData name="Piotr Radziszewski" userId="51e1a861-9e9c-4f30-8d88-60fcbb590066" providerId="ADAL" clId="{38DA7048-6D07-4708-8B50-DC56079CAE9D}" dt="2022-10-17T15:39:18.352" v="62" actId="20577"/>
          <ac:spMkLst>
            <pc:docMk/>
            <pc:sldMk cId="26866841" sldId="264"/>
            <ac:spMk id="6" creationId="{83200D56-15C4-3F7E-490C-63FE089DA773}"/>
          </ac:spMkLst>
        </pc:spChg>
        <pc:spChg chg="mod">
          <ac:chgData name="Piotr Radziszewski" userId="51e1a861-9e9c-4f30-8d88-60fcbb590066" providerId="ADAL" clId="{38DA7048-6D07-4708-8B50-DC56079CAE9D}" dt="2022-10-16T16:01:42.819" v="16" actId="20577"/>
          <ac:spMkLst>
            <pc:docMk/>
            <pc:sldMk cId="26866841" sldId="264"/>
            <ac:spMk id="191" creationId="{00000000-0000-0000-0000-000000000000}"/>
          </ac:spMkLst>
        </pc:spChg>
        <pc:spChg chg="mod">
          <ac:chgData name="Piotr Radziszewski" userId="51e1a861-9e9c-4f30-8d88-60fcbb590066" providerId="ADAL" clId="{38DA7048-6D07-4708-8B50-DC56079CAE9D}" dt="2022-10-17T20:12:22.217" v="71" actId="20577"/>
          <ac:spMkLst>
            <pc:docMk/>
            <pc:sldMk cId="26866841" sldId="264"/>
            <ac:spMk id="19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7377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90A5D3C9-993A-D4F0-78A2-4171B966D543}"/>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2F4D1E1E-B964-09B2-C138-B6F5F542A4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30B489E0-CECB-0E1A-66A1-73083D99D50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57215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B099D607-17A0-B885-E712-CA7714503AC1}"/>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1F92A11D-437B-5B0D-E50B-27CC3B4E2D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71D8017D-1532-515D-C9F7-6899D240D69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28073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CDD7BF7D-B158-8DCF-431A-FE5DEF265979}"/>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42B45AE6-2F3E-BFEB-82E0-2821CF7DA8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948E2D5D-4469-F626-4041-D7D8AE43E6F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8527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B2E38300-19EA-B8CF-BEB2-F226C8B86C00}"/>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5926102F-5405-1F24-02EF-128A9859F6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94C5D71D-72E8-3831-13DB-5BB4A643353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5592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41CAC8CC-724C-48A4-0B9F-F9D1E9007BC5}"/>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D38849CB-5D39-2486-97AF-D878C56212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A0C8FA8D-9E57-0C55-2F05-2FEF8606C0C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6454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848064CC-B72C-C8AB-D5E3-CAD2D04604C4}"/>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2096FA8B-3F5C-68AE-923A-A2FC1B9550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A75F538B-8CEE-B480-8411-4B03A1F2EA3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46824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C3389C84-472F-F119-CDAF-3C9E4F8BD638}"/>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A438E57B-F584-84DB-58DE-ECF0B85AF6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A553954B-9DF1-6A2D-3ABE-C9335D1E8E8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59177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A1566AA0-CC90-62BE-FD9E-52EEC88651C9}"/>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71FC9F69-325E-2FE1-C70C-0BF416EEC6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4C4899FC-A418-8D5E-4207-45BD0A2A471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6497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86EACBDC-78AF-7A15-AFC6-E075DAB09E5E}"/>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8048970D-DADD-77DD-AEA0-7B90369EC3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A7FF1F98-EBE5-B149-E9DB-F98E9871AF2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41501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CE57B56F-2512-E527-23EC-1026B472C5B1}"/>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50E7BBC5-D040-5436-C5DC-A21866F807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84EBBC34-4B57-CD1E-D319-51F2EF7A449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44852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366B7C87-3E42-6372-2E21-EA27A66839C0}"/>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C7FF5C21-0757-489F-DB66-FBB14E4198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F9900474-8671-44F0-5A5E-61BD6F0A478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8139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74E14B78-F6C7-D825-EB48-0CEF5A8471CA}"/>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8459F052-52C4-0C68-2CF9-8557B6096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98364CE1-549D-7B0E-90D6-18B99D5EC6C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29649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33E35E31-1D78-7B7B-1436-55EDC40C0F22}"/>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921711BD-E5CF-A2FC-BA9C-05552C3CD9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4B69D66D-463B-044D-933B-54DADB2D461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48424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FE6CF7F1-F3AB-EDE1-9392-7322E234806F}"/>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CBB32290-4292-4786-75DF-128789D7A7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69B63EBC-4D53-5055-85AB-240C5BE7134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37988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A4A10D23-D948-513C-D1C0-524540AC5922}"/>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E7FBD59A-33BF-EF0F-9306-66403966C8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448D4752-87C4-B690-DE96-78A0357AA40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95880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a:extLst>
            <a:ext uri="{FF2B5EF4-FFF2-40B4-BE49-F238E27FC236}">
              <a16:creationId xmlns:a16="http://schemas.microsoft.com/office/drawing/2014/main" id="{22E68BB7-BAF1-8B71-BA9A-78E97A690F0A}"/>
            </a:ext>
          </a:extLst>
        </p:cNvPr>
        <p:cNvGrpSpPr/>
        <p:nvPr/>
      </p:nvGrpSpPr>
      <p:grpSpPr>
        <a:xfrm>
          <a:off x="0" y="0"/>
          <a:ext cx="0" cy="0"/>
          <a:chOff x="0" y="0"/>
          <a:chExt cx="0" cy="0"/>
        </a:xfrm>
      </p:grpSpPr>
      <p:sp>
        <p:nvSpPr>
          <p:cNvPr id="182" name="Google Shape;182;p3:notes">
            <a:extLst>
              <a:ext uri="{FF2B5EF4-FFF2-40B4-BE49-F238E27FC236}">
                <a16:creationId xmlns:a16="http://schemas.microsoft.com/office/drawing/2014/main" id="{8D0C51C8-85FF-692C-500C-C934450498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3:notes">
            <a:extLst>
              <a:ext uri="{FF2B5EF4-FFF2-40B4-BE49-F238E27FC236}">
                <a16:creationId xmlns:a16="http://schemas.microsoft.com/office/drawing/2014/main" id="{0C1BC390-33E0-F2EB-FBC9-B69C9C9E2BB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7315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Slajd tytułowy">
  <p:cSld name="1_Slajd tytułowy">
    <p:spTree>
      <p:nvGrpSpPr>
        <p:cNvPr id="1"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ajd tytułowy" type="title">
  <p:cSld name="TITLE">
    <p:spTree>
      <p:nvGrpSpPr>
        <p:cNvPr id="1" name="Shape 7"/>
        <p:cNvGrpSpPr/>
        <p:nvPr/>
      </p:nvGrpSpPr>
      <p:grpSpPr>
        <a:xfrm>
          <a:off x="0" y="0"/>
          <a:ext cx="0" cy="0"/>
          <a:chOff x="0" y="0"/>
          <a:chExt cx="0" cy="0"/>
        </a:xfrm>
      </p:grpSpPr>
      <p:sp>
        <p:nvSpPr>
          <p:cNvPr id="8" name="Google Shape;8;p9"/>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9"/>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1pPr>
            <a:lvl2pPr marR="0" lvl="1" algn="ctr"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2pPr>
            <a:lvl3pPr marR="0" lvl="2" algn="ctr" rtl="0">
              <a:lnSpc>
                <a:spcPct val="90000"/>
              </a:lnSpc>
              <a:spcBef>
                <a:spcPts val="375"/>
              </a:spcBef>
              <a:spcAft>
                <a:spcPts val="0"/>
              </a:spcAft>
              <a:buClr>
                <a:schemeClr val="dk1"/>
              </a:buClr>
              <a:buSzPts val="1350"/>
              <a:buFont typeface="Arial"/>
              <a:buNone/>
              <a:defRPr sz="1350" b="0" i="0" u="none" strike="noStrike" cap="none">
                <a:solidFill>
                  <a:schemeClr val="dk1"/>
                </a:solidFill>
                <a:latin typeface="Calibri"/>
                <a:ea typeface="Calibri"/>
                <a:cs typeface="Calibri"/>
                <a:sym typeface="Calibri"/>
              </a:defRPr>
            </a:lvl3pPr>
            <a:lvl4pPr marR="0" lvl="3"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4pPr>
            <a:lvl5pPr marR="0" lvl="4"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5pPr>
            <a:lvl6pPr marR="0" lvl="5"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6pPr>
            <a:lvl7pPr marR="0" lvl="6"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7pPr>
            <a:lvl8pPr marR="0" lvl="7"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8pPr>
            <a:lvl9pPr marR="0" lvl="8"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10" name="Google Shape;10;p9"/>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 name="Google Shape;11;p9"/>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ytuł i zawartość" type="obj">
  <p:cSld name="OBJECT">
    <p:spTree>
      <p:nvGrpSpPr>
        <p:cNvPr id="1" name="Shape 13"/>
        <p:cNvGrpSpPr/>
        <p:nvPr/>
      </p:nvGrpSpPr>
      <p:grpSpPr>
        <a:xfrm>
          <a:off x="0" y="0"/>
          <a:ext cx="0" cy="0"/>
          <a:chOff x="0" y="0"/>
          <a:chExt cx="0" cy="0"/>
        </a:xfrm>
      </p:grpSpPr>
      <p:sp>
        <p:nvSpPr>
          <p:cNvPr id="14" name="Google Shape;14;p10"/>
          <p:cNvSpPr txBox="1">
            <a:spLocks noGrp="1"/>
          </p:cNvSpPr>
          <p:nvPr>
            <p:ph type="title"/>
          </p:nvPr>
        </p:nvSpPr>
        <p:spPr>
          <a:xfrm>
            <a:off x="628650" y="365129"/>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 name="Google Shape;15;p10"/>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6" name="Google Shape;16;p10"/>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 name="Google Shape;17;p10"/>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10"/>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Nagłówek sekcji" type="secHead">
  <p:cSld name="SECTION_HEADER">
    <p:spTree>
      <p:nvGrpSpPr>
        <p:cNvPr id="1" name="Shape 19"/>
        <p:cNvGrpSpPr/>
        <p:nvPr/>
      </p:nvGrpSpPr>
      <p:grpSpPr>
        <a:xfrm>
          <a:off x="0" y="0"/>
          <a:ext cx="0" cy="0"/>
          <a:chOff x="0" y="0"/>
          <a:chExt cx="0" cy="0"/>
        </a:xfrm>
      </p:grpSpPr>
      <p:sp>
        <p:nvSpPr>
          <p:cNvPr id="20" name="Google Shape;20;p11"/>
          <p:cNvSpPr txBox="1">
            <a:spLocks noGrp="1"/>
          </p:cNvSpPr>
          <p:nvPr>
            <p:ph type="title"/>
          </p:nvPr>
        </p:nvSpPr>
        <p:spPr>
          <a:xfrm>
            <a:off x="623888" y="1709742"/>
            <a:ext cx="78867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1" name="Google Shape;21;p11"/>
          <p:cNvSpPr txBox="1">
            <a:spLocks noGrp="1"/>
          </p:cNvSpPr>
          <p:nvPr>
            <p:ph type="body" idx="1"/>
          </p:nvPr>
        </p:nvSpPr>
        <p:spPr>
          <a:xfrm>
            <a:off x="623888" y="4589467"/>
            <a:ext cx="78867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375"/>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375"/>
              </a:spcBef>
              <a:spcAft>
                <a:spcPts val="0"/>
              </a:spcAft>
              <a:buClr>
                <a:srgbClr val="888888"/>
              </a:buClr>
              <a:buSzPts val="1350"/>
              <a:buFont typeface="Arial"/>
              <a:buNone/>
              <a:defRPr sz="135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22" name="Google Shape;22;p11"/>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3" name="Google Shape;23;p11"/>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4" name="Google Shape;24;p11"/>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wa elementy zawartości" type="twoObj">
  <p:cSld name="TWO_OBJECTS">
    <p:spTree>
      <p:nvGrpSpPr>
        <p:cNvPr id="1" name="Shape 25"/>
        <p:cNvGrpSpPr/>
        <p:nvPr/>
      </p:nvGrpSpPr>
      <p:grpSpPr>
        <a:xfrm>
          <a:off x="0" y="0"/>
          <a:ext cx="0" cy="0"/>
          <a:chOff x="0" y="0"/>
          <a:chExt cx="0" cy="0"/>
        </a:xfrm>
      </p:grpSpPr>
      <p:sp>
        <p:nvSpPr>
          <p:cNvPr id="26" name="Google Shape;26;p12"/>
          <p:cNvSpPr txBox="1">
            <a:spLocks noGrp="1"/>
          </p:cNvSpPr>
          <p:nvPr>
            <p:ph type="title"/>
          </p:nvPr>
        </p:nvSpPr>
        <p:spPr>
          <a:xfrm>
            <a:off x="628650" y="365129"/>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7" name="Google Shape;27;p12"/>
          <p:cNvSpPr txBox="1">
            <a:spLocks noGrp="1"/>
          </p:cNvSpPr>
          <p:nvPr>
            <p:ph type="body" idx="1"/>
          </p:nvPr>
        </p:nvSpPr>
        <p:spPr>
          <a:xfrm>
            <a:off x="628650" y="1825625"/>
            <a:ext cx="3867150" cy="4351338"/>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8" name="Google Shape;28;p12"/>
          <p:cNvSpPr txBox="1">
            <a:spLocks noGrp="1"/>
          </p:cNvSpPr>
          <p:nvPr>
            <p:ph type="body" idx="2"/>
          </p:nvPr>
        </p:nvSpPr>
        <p:spPr>
          <a:xfrm>
            <a:off x="4648200" y="1825625"/>
            <a:ext cx="3867150" cy="4351338"/>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9" name="Google Shape;29;p12"/>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0" name="Google Shape;30;p12"/>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12"/>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orównanie" type="twoTxTwoObj">
  <p:cSld name="TWO_OBJECTS_WITH_TEXT">
    <p:spTree>
      <p:nvGrpSpPr>
        <p:cNvPr id="1" name="Shape 32"/>
        <p:cNvGrpSpPr/>
        <p:nvPr/>
      </p:nvGrpSpPr>
      <p:grpSpPr>
        <a:xfrm>
          <a:off x="0" y="0"/>
          <a:ext cx="0" cy="0"/>
          <a:chOff x="0" y="0"/>
          <a:chExt cx="0" cy="0"/>
        </a:xfrm>
      </p:grpSpPr>
      <p:sp>
        <p:nvSpPr>
          <p:cNvPr id="33" name="Google Shape;33;p13"/>
          <p:cNvSpPr txBox="1">
            <a:spLocks noGrp="1"/>
          </p:cNvSpPr>
          <p:nvPr>
            <p:ph type="title"/>
          </p:nvPr>
        </p:nvSpPr>
        <p:spPr>
          <a:xfrm>
            <a:off x="630238" y="365129"/>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4" name="Google Shape;34;p13"/>
          <p:cNvSpPr txBox="1">
            <a:spLocks noGrp="1"/>
          </p:cNvSpPr>
          <p:nvPr>
            <p:ph type="body" idx="1"/>
          </p:nvPr>
        </p:nvSpPr>
        <p:spPr>
          <a:xfrm>
            <a:off x="630239" y="1681163"/>
            <a:ext cx="386873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75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375"/>
              </a:spcBef>
              <a:spcAft>
                <a:spcPts val="0"/>
              </a:spcAft>
              <a:buClr>
                <a:schemeClr val="dk1"/>
              </a:buClr>
              <a:buSzPts val="1500"/>
              <a:buFont typeface="Arial"/>
              <a:buNone/>
              <a:defRPr sz="15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375"/>
              </a:spcBef>
              <a:spcAft>
                <a:spcPts val="0"/>
              </a:spcAft>
              <a:buClr>
                <a:schemeClr val="dk1"/>
              </a:buClr>
              <a:buSzPts val="1350"/>
              <a:buFont typeface="Arial"/>
              <a:buNone/>
              <a:defRPr sz="135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35" name="Google Shape;35;p13"/>
          <p:cNvSpPr txBox="1">
            <a:spLocks noGrp="1"/>
          </p:cNvSpPr>
          <p:nvPr>
            <p:ph type="body" idx="2"/>
          </p:nvPr>
        </p:nvSpPr>
        <p:spPr>
          <a:xfrm>
            <a:off x="630239" y="2505075"/>
            <a:ext cx="3868737" cy="3684588"/>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6" name="Google Shape;36;p13"/>
          <p:cNvSpPr txBox="1">
            <a:spLocks noGrp="1"/>
          </p:cNvSpPr>
          <p:nvPr>
            <p:ph type="body" idx="3"/>
          </p:nvPr>
        </p:nvSpPr>
        <p:spPr>
          <a:xfrm>
            <a:off x="4629150" y="1681163"/>
            <a:ext cx="38877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75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375"/>
              </a:spcBef>
              <a:spcAft>
                <a:spcPts val="0"/>
              </a:spcAft>
              <a:buClr>
                <a:schemeClr val="dk1"/>
              </a:buClr>
              <a:buSzPts val="1500"/>
              <a:buFont typeface="Arial"/>
              <a:buNone/>
              <a:defRPr sz="15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375"/>
              </a:spcBef>
              <a:spcAft>
                <a:spcPts val="0"/>
              </a:spcAft>
              <a:buClr>
                <a:schemeClr val="dk1"/>
              </a:buClr>
              <a:buSzPts val="1350"/>
              <a:buFont typeface="Arial"/>
              <a:buNone/>
              <a:defRPr sz="135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375"/>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37" name="Google Shape;37;p13"/>
          <p:cNvSpPr txBox="1">
            <a:spLocks noGrp="1"/>
          </p:cNvSpPr>
          <p:nvPr>
            <p:ph type="body" idx="4"/>
          </p:nvPr>
        </p:nvSpPr>
        <p:spPr>
          <a:xfrm>
            <a:off x="4629150" y="2505075"/>
            <a:ext cx="3887788" cy="3684588"/>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8" name="Google Shape;38;p13"/>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13"/>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0" name="Google Shape;40;p13"/>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ylko tytuł" type="titleOnly">
  <p:cSld name="TITLE_ONLY">
    <p:spTree>
      <p:nvGrpSpPr>
        <p:cNvPr id="1" name="Shape 41"/>
        <p:cNvGrpSpPr/>
        <p:nvPr/>
      </p:nvGrpSpPr>
      <p:grpSpPr>
        <a:xfrm>
          <a:off x="0" y="0"/>
          <a:ext cx="0" cy="0"/>
          <a:chOff x="0" y="0"/>
          <a:chExt cx="0" cy="0"/>
        </a:xfrm>
      </p:grpSpPr>
      <p:sp>
        <p:nvSpPr>
          <p:cNvPr id="42" name="Google Shape;42;p14"/>
          <p:cNvSpPr txBox="1">
            <a:spLocks noGrp="1"/>
          </p:cNvSpPr>
          <p:nvPr>
            <p:ph type="title"/>
          </p:nvPr>
        </p:nvSpPr>
        <p:spPr>
          <a:xfrm>
            <a:off x="628650" y="365129"/>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3" name="Google Shape;43;p14"/>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4" name="Google Shape;44;p14"/>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5" name="Google Shape;45;p14"/>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usty" type="blank">
  <p:cSld name="BLANK">
    <p:spTree>
      <p:nvGrpSpPr>
        <p:cNvPr id="1" name="Shape 46"/>
        <p:cNvGrpSpPr/>
        <p:nvPr/>
      </p:nvGrpSpPr>
      <p:grpSpPr>
        <a:xfrm>
          <a:off x="0" y="0"/>
          <a:ext cx="0" cy="0"/>
          <a:chOff x="0" y="0"/>
          <a:chExt cx="0" cy="0"/>
        </a:xfrm>
      </p:grpSpPr>
      <p:sp>
        <p:nvSpPr>
          <p:cNvPr id="47" name="Google Shape;47;p15"/>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15"/>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p15"/>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Zawartość z podpisem" type="objTx">
  <p:cSld name="OBJECT_WITH_CAPTION_TEXT">
    <p:spTree>
      <p:nvGrpSpPr>
        <p:cNvPr id="1" name="Shape 50"/>
        <p:cNvGrpSpPr/>
        <p:nvPr/>
      </p:nvGrpSpPr>
      <p:grpSpPr>
        <a:xfrm>
          <a:off x="0" y="0"/>
          <a:ext cx="0" cy="0"/>
          <a:chOff x="0" y="0"/>
          <a:chExt cx="0" cy="0"/>
        </a:xfrm>
      </p:grpSpPr>
      <p:sp>
        <p:nvSpPr>
          <p:cNvPr id="51" name="Google Shape;51;p16"/>
          <p:cNvSpPr txBox="1">
            <a:spLocks noGrp="1"/>
          </p:cNvSpPr>
          <p:nvPr>
            <p:ph type="title"/>
          </p:nvPr>
        </p:nvSpPr>
        <p:spPr>
          <a:xfrm>
            <a:off x="630240" y="457200"/>
            <a:ext cx="2949575"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2400"/>
              <a:buFont typeface="Calibri"/>
              <a:buNone/>
              <a:defRPr sz="2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6"/>
          <p:cNvSpPr txBox="1">
            <a:spLocks noGrp="1"/>
          </p:cNvSpPr>
          <p:nvPr>
            <p:ph type="body" idx="1"/>
          </p:nvPr>
        </p:nvSpPr>
        <p:spPr>
          <a:xfrm>
            <a:off x="3887788" y="987429"/>
            <a:ext cx="4629150" cy="4873625"/>
          </a:xfrm>
          <a:prstGeom prst="rect">
            <a:avLst/>
          </a:prstGeom>
          <a:noFill/>
          <a:ln>
            <a:noFill/>
          </a:ln>
        </p:spPr>
        <p:txBody>
          <a:bodyPr spcFirstLastPara="1" wrap="square" lIns="91425" tIns="45700" rIns="91425" bIns="45700" anchor="t" anchorCtr="0">
            <a:noAutofit/>
          </a:bodyPr>
          <a:lstStyle>
            <a:lvl1pPr marL="457200" marR="0" lvl="0" indent="-381000" algn="l" rtl="0">
              <a:lnSpc>
                <a:spcPct val="90000"/>
              </a:lnSpc>
              <a:spcBef>
                <a:spcPts val="75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rtl="0">
              <a:lnSpc>
                <a:spcPct val="90000"/>
              </a:lnSpc>
              <a:spcBef>
                <a:spcPts val="375"/>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53" name="Google Shape;53;p16"/>
          <p:cNvSpPr txBox="1">
            <a:spLocks noGrp="1"/>
          </p:cNvSpPr>
          <p:nvPr>
            <p:ph type="body" idx="2"/>
          </p:nvPr>
        </p:nvSpPr>
        <p:spPr>
          <a:xfrm>
            <a:off x="630240" y="2057400"/>
            <a:ext cx="2949575"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375"/>
              </a:spcBef>
              <a:spcAft>
                <a:spcPts val="0"/>
              </a:spcAft>
              <a:buClr>
                <a:schemeClr val="dk1"/>
              </a:buClr>
              <a:buSzPts val="1050"/>
              <a:buFont typeface="Arial"/>
              <a:buNone/>
              <a:defRPr sz="105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375"/>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9pPr>
          </a:lstStyle>
          <a:p>
            <a:endParaRPr/>
          </a:p>
        </p:txBody>
      </p:sp>
      <p:sp>
        <p:nvSpPr>
          <p:cNvPr id="54" name="Google Shape;54;p16"/>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16"/>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16"/>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braz z podpisem" type="picTx">
  <p:cSld name="PICTURE_WITH_CAPTION_TEXT">
    <p:spTree>
      <p:nvGrpSpPr>
        <p:cNvPr id="1" name="Shape 57"/>
        <p:cNvGrpSpPr/>
        <p:nvPr/>
      </p:nvGrpSpPr>
      <p:grpSpPr>
        <a:xfrm>
          <a:off x="0" y="0"/>
          <a:ext cx="0" cy="0"/>
          <a:chOff x="0" y="0"/>
          <a:chExt cx="0" cy="0"/>
        </a:xfrm>
      </p:grpSpPr>
      <p:sp>
        <p:nvSpPr>
          <p:cNvPr id="58" name="Google Shape;58;p17"/>
          <p:cNvSpPr txBox="1">
            <a:spLocks noGrp="1"/>
          </p:cNvSpPr>
          <p:nvPr>
            <p:ph type="title"/>
          </p:nvPr>
        </p:nvSpPr>
        <p:spPr>
          <a:xfrm>
            <a:off x="630240" y="457200"/>
            <a:ext cx="2949575"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2400"/>
              <a:buFont typeface="Calibri"/>
              <a:buNone/>
              <a:defRPr sz="2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9" name="Google Shape;59;p17"/>
          <p:cNvSpPr>
            <a:spLocks noGrp="1"/>
          </p:cNvSpPr>
          <p:nvPr>
            <p:ph type="pic" idx="2"/>
          </p:nvPr>
        </p:nvSpPr>
        <p:spPr>
          <a:xfrm>
            <a:off x="3887788" y="987429"/>
            <a:ext cx="4629150" cy="4873625"/>
          </a:xfrm>
          <a:prstGeom prst="rect">
            <a:avLst/>
          </a:prstGeom>
          <a:noFill/>
          <a:ln>
            <a:noFill/>
          </a:ln>
        </p:spPr>
      </p:sp>
      <p:sp>
        <p:nvSpPr>
          <p:cNvPr id="60" name="Google Shape;60;p17"/>
          <p:cNvSpPr txBox="1">
            <a:spLocks noGrp="1"/>
          </p:cNvSpPr>
          <p:nvPr>
            <p:ph type="body" idx="1"/>
          </p:nvPr>
        </p:nvSpPr>
        <p:spPr>
          <a:xfrm>
            <a:off x="630240" y="2057400"/>
            <a:ext cx="2949575"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75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375"/>
              </a:spcBef>
              <a:spcAft>
                <a:spcPts val="0"/>
              </a:spcAft>
              <a:buClr>
                <a:schemeClr val="dk1"/>
              </a:buClr>
              <a:buSzPts val="1050"/>
              <a:buFont typeface="Arial"/>
              <a:buNone/>
              <a:defRPr sz="105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375"/>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375"/>
              </a:spcBef>
              <a:spcAft>
                <a:spcPts val="0"/>
              </a:spcAft>
              <a:buClr>
                <a:schemeClr val="dk1"/>
              </a:buClr>
              <a:buSzPts val="750"/>
              <a:buFont typeface="Arial"/>
              <a:buNone/>
              <a:defRPr sz="750" b="0" i="0" u="none" strike="noStrike" cap="none">
                <a:solidFill>
                  <a:schemeClr val="dk1"/>
                </a:solidFill>
                <a:latin typeface="Calibri"/>
                <a:ea typeface="Calibri"/>
                <a:cs typeface="Calibri"/>
                <a:sym typeface="Calibri"/>
              </a:defRPr>
            </a:lvl9pPr>
          </a:lstStyle>
          <a:p>
            <a:endParaRPr/>
          </a:p>
        </p:txBody>
      </p:sp>
      <p:sp>
        <p:nvSpPr>
          <p:cNvPr id="61" name="Google Shape;61;p17"/>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17"/>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17"/>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ytuł i tekst pionowy" type="vertTx">
  <p:cSld name="VERTICAL_TEXT">
    <p:spTree>
      <p:nvGrpSpPr>
        <p:cNvPr id="1" name="Shape 64"/>
        <p:cNvGrpSpPr/>
        <p:nvPr/>
      </p:nvGrpSpPr>
      <p:grpSpPr>
        <a:xfrm>
          <a:off x="0" y="0"/>
          <a:ext cx="0" cy="0"/>
          <a:chOff x="0" y="0"/>
          <a:chExt cx="0" cy="0"/>
        </a:xfrm>
      </p:grpSpPr>
      <p:sp>
        <p:nvSpPr>
          <p:cNvPr id="65" name="Google Shape;65;p18"/>
          <p:cNvSpPr txBox="1">
            <a:spLocks noGrp="1"/>
          </p:cNvSpPr>
          <p:nvPr>
            <p:ph type="title"/>
          </p:nvPr>
        </p:nvSpPr>
        <p:spPr>
          <a:xfrm>
            <a:off x="628650" y="365129"/>
            <a:ext cx="78867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6" name="Google Shape;66;p18"/>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67" name="Google Shape;67;p18"/>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18"/>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9" name="Google Shape;69;p18"/>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ytuł pionowy i tekst" type="vertTitleAndTx">
  <p:cSld name="VERTICAL_TITLE_AND_VERTICAL_TEXT">
    <p:spTree>
      <p:nvGrpSpPr>
        <p:cNvPr id="1" name="Shape 70"/>
        <p:cNvGrpSpPr/>
        <p:nvPr/>
      </p:nvGrpSpPr>
      <p:grpSpPr>
        <a:xfrm>
          <a:off x="0" y="0"/>
          <a:ext cx="0" cy="0"/>
          <a:chOff x="0" y="0"/>
          <a:chExt cx="0" cy="0"/>
        </a:xfrm>
      </p:grpSpPr>
      <p:sp>
        <p:nvSpPr>
          <p:cNvPr id="71" name="Google Shape;71;p19"/>
          <p:cNvSpPr txBox="1">
            <a:spLocks noGrp="1"/>
          </p:cNvSpPr>
          <p:nvPr>
            <p:ph type="title"/>
          </p:nvPr>
        </p:nvSpPr>
        <p:spPr>
          <a:xfrm rot="5400000">
            <a:off x="4623595" y="2285207"/>
            <a:ext cx="5811838" cy="197167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2" name="Google Shape;72;p19"/>
          <p:cNvSpPr txBox="1">
            <a:spLocks noGrp="1"/>
          </p:cNvSpPr>
          <p:nvPr>
            <p:ph type="body" idx="1"/>
          </p:nvPr>
        </p:nvSpPr>
        <p:spPr>
          <a:xfrm rot="5400000">
            <a:off x="604046" y="389731"/>
            <a:ext cx="5811838" cy="5762625"/>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73" name="Google Shape;73;p19"/>
          <p:cNvSpPr txBox="1">
            <a:spLocks noGrp="1"/>
          </p:cNvSpPr>
          <p:nvPr>
            <p:ph type="dt" idx="10"/>
          </p:nvPr>
        </p:nvSpPr>
        <p:spPr>
          <a:xfrm>
            <a:off x="628650" y="6356354"/>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 name="Google Shape;74;p19"/>
          <p:cNvSpPr txBox="1">
            <a:spLocks noGrp="1"/>
          </p:cNvSpPr>
          <p:nvPr>
            <p:ph type="ftr" idx="11"/>
          </p:nvPr>
        </p:nvSpPr>
        <p:spPr>
          <a:xfrm>
            <a:off x="3028950" y="6356354"/>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 name="Google Shape;75;p19"/>
          <p:cNvSpPr txBox="1">
            <a:spLocks noGrp="1"/>
          </p:cNvSpPr>
          <p:nvPr>
            <p:ph type="sldNum" idx="12"/>
          </p:nvPr>
        </p:nvSpPr>
        <p:spPr>
          <a:xfrm>
            <a:off x="6457950" y="6356354"/>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Slajd tytułowy">
  <p:cSld name="2_Slajd tytułowy">
    <p:spTree>
      <p:nvGrpSpPr>
        <p:cNvPr id="1" name="Shape 76"/>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_Slajd tytułowy">
  <p:cSld name="3_Slajd tytułowy">
    <p:spTree>
      <p:nvGrpSpPr>
        <p:cNvPr id="1" name="Shape 77"/>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ytuł i zawartość" type="obj">
  <p:cSld name="OBJECT">
    <p:spTree>
      <p:nvGrpSpPr>
        <p:cNvPr id="1" name="Shape 84"/>
        <p:cNvGrpSpPr/>
        <p:nvPr/>
      </p:nvGrpSpPr>
      <p:grpSpPr>
        <a:xfrm>
          <a:off x="0" y="0"/>
          <a:ext cx="0" cy="0"/>
          <a:chOff x="0" y="0"/>
          <a:chExt cx="0" cy="0"/>
        </a:xfrm>
      </p:grpSpPr>
      <p:sp>
        <p:nvSpPr>
          <p:cNvPr id="85" name="Google Shape;85;p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lajd tytułowy" type="title">
  <p:cSld name="TITLE">
    <p:spTree>
      <p:nvGrpSpPr>
        <p:cNvPr id="1" name="Shape 90"/>
        <p:cNvGrpSpPr/>
        <p:nvPr/>
      </p:nvGrpSpPr>
      <p:grpSpPr>
        <a:xfrm>
          <a:off x="0" y="0"/>
          <a:ext cx="0" cy="0"/>
          <a:chOff x="0" y="0"/>
          <a:chExt cx="0" cy="0"/>
        </a:xfrm>
      </p:grpSpPr>
      <p:sp>
        <p:nvSpPr>
          <p:cNvPr id="91" name="Google Shape;91;p22"/>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2"/>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3" name="Google Shape;93;p2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Nagłówek sekcji" type="secHead">
  <p:cSld name="SECTION_HEADER">
    <p:spTree>
      <p:nvGrpSpPr>
        <p:cNvPr id="1" name="Shape 96"/>
        <p:cNvGrpSpPr/>
        <p:nvPr/>
      </p:nvGrpSpPr>
      <p:grpSpPr>
        <a:xfrm>
          <a:off x="0" y="0"/>
          <a:ext cx="0" cy="0"/>
          <a:chOff x="0" y="0"/>
          <a:chExt cx="0" cy="0"/>
        </a:xfrm>
      </p:grpSpPr>
      <p:sp>
        <p:nvSpPr>
          <p:cNvPr id="97" name="Google Shape;97;p23"/>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3"/>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9" name="Google Shape;99;p2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Dwa elementy zawartości" type="twoObj">
  <p:cSld name="TWO_OBJECTS">
    <p:spTree>
      <p:nvGrpSpPr>
        <p:cNvPr id="1" name="Shape 102"/>
        <p:cNvGrpSpPr/>
        <p:nvPr/>
      </p:nvGrpSpPr>
      <p:grpSpPr>
        <a:xfrm>
          <a:off x="0" y="0"/>
          <a:ext cx="0" cy="0"/>
          <a:chOff x="0" y="0"/>
          <a:chExt cx="0" cy="0"/>
        </a:xfrm>
      </p:grpSpPr>
      <p:sp>
        <p:nvSpPr>
          <p:cNvPr id="103" name="Google Shape;103;p2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4"/>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24"/>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2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orównanie" type="twoTxTwoObj">
  <p:cSld name="TWO_OBJECTS_WITH_TEXT">
    <p:spTree>
      <p:nvGrpSpPr>
        <p:cNvPr id="1" name="Shape 109"/>
        <p:cNvGrpSpPr/>
        <p:nvPr/>
      </p:nvGrpSpPr>
      <p:grpSpPr>
        <a:xfrm>
          <a:off x="0" y="0"/>
          <a:ext cx="0" cy="0"/>
          <a:chOff x="0" y="0"/>
          <a:chExt cx="0" cy="0"/>
        </a:xfrm>
      </p:grpSpPr>
      <p:sp>
        <p:nvSpPr>
          <p:cNvPr id="110" name="Google Shape;110;p25"/>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25"/>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2" name="Google Shape;112;p25"/>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25"/>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4" name="Google Shape;114;p25"/>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2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2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ylko tytuł" type="titleOnly">
  <p:cSld name="TITLE_ONLY">
    <p:spTree>
      <p:nvGrpSpPr>
        <p:cNvPr id="1" name="Shape 118"/>
        <p:cNvGrpSpPr/>
        <p:nvPr/>
      </p:nvGrpSpPr>
      <p:grpSpPr>
        <a:xfrm>
          <a:off x="0" y="0"/>
          <a:ext cx="0" cy="0"/>
          <a:chOff x="0" y="0"/>
          <a:chExt cx="0" cy="0"/>
        </a:xfrm>
      </p:grpSpPr>
      <p:sp>
        <p:nvSpPr>
          <p:cNvPr id="119" name="Google Shape;119;p26"/>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0" name="Google Shape;120;p2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2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2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usty" type="blank">
  <p:cSld name="BLANK">
    <p:spTree>
      <p:nvGrpSpPr>
        <p:cNvPr id="1" name="Shape 123"/>
        <p:cNvGrpSpPr/>
        <p:nvPr/>
      </p:nvGrpSpPr>
      <p:grpSpPr>
        <a:xfrm>
          <a:off x="0" y="0"/>
          <a:ext cx="0" cy="0"/>
          <a:chOff x="0" y="0"/>
          <a:chExt cx="0" cy="0"/>
        </a:xfrm>
      </p:grpSpPr>
      <p:sp>
        <p:nvSpPr>
          <p:cNvPr id="124" name="Google Shape;124;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Zawartość z podpisem" type="objTx">
  <p:cSld name="OBJECT_WITH_CAPTION_TEXT">
    <p:spTree>
      <p:nvGrpSpPr>
        <p:cNvPr id="1" name="Shape 127"/>
        <p:cNvGrpSpPr/>
        <p:nvPr/>
      </p:nvGrpSpPr>
      <p:grpSpPr>
        <a:xfrm>
          <a:off x="0" y="0"/>
          <a:ext cx="0" cy="0"/>
          <a:chOff x="0" y="0"/>
          <a:chExt cx="0" cy="0"/>
        </a:xfrm>
      </p:grpSpPr>
      <p:sp>
        <p:nvSpPr>
          <p:cNvPr id="128" name="Google Shape;128;p28"/>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9" name="Google Shape;129;p28"/>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0" name="Google Shape;130;p28"/>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1" name="Google Shape;131;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braz z podpisem" type="picTx">
  <p:cSld name="PICTURE_WITH_CAPTION_TEXT">
    <p:spTree>
      <p:nvGrpSpPr>
        <p:cNvPr id="1" name="Shape 134"/>
        <p:cNvGrpSpPr/>
        <p:nvPr/>
      </p:nvGrpSpPr>
      <p:grpSpPr>
        <a:xfrm>
          <a:off x="0" y="0"/>
          <a:ext cx="0" cy="0"/>
          <a:chOff x="0" y="0"/>
          <a:chExt cx="0" cy="0"/>
        </a:xfrm>
      </p:grpSpPr>
      <p:sp>
        <p:nvSpPr>
          <p:cNvPr id="135" name="Google Shape;135;p2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6" name="Google Shape;136;p29"/>
          <p:cNvSpPr>
            <a:spLocks noGrp="1"/>
          </p:cNvSpPr>
          <p:nvPr>
            <p:ph type="pic" idx="2"/>
          </p:nvPr>
        </p:nvSpPr>
        <p:spPr>
          <a:xfrm>
            <a:off x="3887391" y="987426"/>
            <a:ext cx="4629150" cy="4873625"/>
          </a:xfrm>
          <a:prstGeom prst="rect">
            <a:avLst/>
          </a:prstGeom>
          <a:noFill/>
          <a:ln>
            <a:noFill/>
          </a:ln>
        </p:spPr>
      </p:sp>
      <p:sp>
        <p:nvSpPr>
          <p:cNvPr id="137" name="Google Shape;137;p29"/>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8" name="Google Shape;138;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ytuł i tekst pionowy" type="vertTx">
  <p:cSld name="VERTICAL_TEXT">
    <p:spTree>
      <p:nvGrpSpPr>
        <p:cNvPr id="1" name="Shape 141"/>
        <p:cNvGrpSpPr/>
        <p:nvPr/>
      </p:nvGrpSpPr>
      <p:grpSpPr>
        <a:xfrm>
          <a:off x="0" y="0"/>
          <a:ext cx="0" cy="0"/>
          <a:chOff x="0" y="0"/>
          <a:chExt cx="0" cy="0"/>
        </a:xfrm>
      </p:grpSpPr>
      <p:sp>
        <p:nvSpPr>
          <p:cNvPr id="142" name="Google Shape;142;p3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3" name="Google Shape;143;p30"/>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4" name="Google Shape;144;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ytuł pionowy i tekst" type="vertTitleAndTx">
  <p:cSld name="VERTICAL_TITLE_AND_VERTICAL_TEXT">
    <p:spTree>
      <p:nvGrpSpPr>
        <p:cNvPr id="1" name="Shape 147"/>
        <p:cNvGrpSpPr/>
        <p:nvPr/>
      </p:nvGrpSpPr>
      <p:grpSpPr>
        <a:xfrm>
          <a:off x="0" y="0"/>
          <a:ext cx="0" cy="0"/>
          <a:chOff x="0" y="0"/>
          <a:chExt cx="0" cy="0"/>
        </a:xfrm>
      </p:grpSpPr>
      <p:sp>
        <p:nvSpPr>
          <p:cNvPr id="148" name="Google Shape;148;p31"/>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31"/>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l-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p:cNvGrpSpPr/>
        <p:nvPr/>
      </p:nvGrpSpPr>
      <p:grpSpPr>
        <a:xfrm>
          <a:off x="0" y="0"/>
          <a:ext cx="0" cy="0"/>
          <a:chOff x="0" y="0"/>
          <a:chExt cx="0" cy="0"/>
        </a:xfrm>
      </p:grpSpPr>
      <p:sp>
        <p:nvSpPr>
          <p:cNvPr id="79" name="Google Shape;79;p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l-PL"/>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video" Target="../media/media1.mov"/><Relationship Id="rId1" Type="http://schemas.microsoft.com/office/2007/relationships/media" Target="../media/media1.mov"/><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
          <p:cNvSpPr/>
          <p:nvPr/>
        </p:nvSpPr>
        <p:spPr>
          <a:xfrm>
            <a:off x="3657600" y="628459"/>
            <a:ext cx="2460171" cy="227124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lang="en-US" sz="1800" b="0" i="0" u="none" strike="noStrike" cap="none" dirty="0">
              <a:solidFill>
                <a:srgbClr val="000000"/>
              </a:solidFill>
              <a:latin typeface="Calibri"/>
              <a:ea typeface="Calibri"/>
              <a:cs typeface="Calibri"/>
              <a:sym typeface="Calibri"/>
            </a:endParaRPr>
          </a:p>
        </p:txBody>
      </p:sp>
      <p:cxnSp>
        <p:nvCxnSpPr>
          <p:cNvPr id="158" name="Google Shape;158;p1"/>
          <p:cNvCxnSpPr/>
          <p:nvPr/>
        </p:nvCxnSpPr>
        <p:spPr>
          <a:xfrm>
            <a:off x="1583474" y="3162118"/>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59" name="Google Shape;159;p1"/>
          <p:cNvSpPr/>
          <p:nvPr/>
        </p:nvSpPr>
        <p:spPr>
          <a:xfrm>
            <a:off x="1080000" y="288000"/>
            <a:ext cx="178420" cy="6120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lang="en-US" sz="1800" b="0" i="0" u="none" strike="noStrike" cap="none" dirty="0">
              <a:solidFill>
                <a:srgbClr val="FFFFFF"/>
              </a:solidFill>
              <a:latin typeface="Calibri"/>
              <a:ea typeface="Calibri"/>
              <a:cs typeface="Calibri"/>
              <a:sym typeface="Calibri"/>
            </a:endParaRPr>
          </a:p>
        </p:txBody>
      </p:sp>
      <p:cxnSp>
        <p:nvCxnSpPr>
          <p:cNvPr id="160" name="Google Shape;160;p1"/>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61" name="Google Shape;161;p1"/>
          <p:cNvSpPr txBox="1"/>
          <p:nvPr/>
        </p:nvSpPr>
        <p:spPr>
          <a:xfrm>
            <a:off x="1583474" y="5952542"/>
            <a:ext cx="3378819" cy="276999"/>
          </a:xfrm>
          <a:prstGeom prst="rect">
            <a:avLst/>
          </a:prstGeom>
          <a:noFill/>
          <a:ln>
            <a:noFill/>
          </a:ln>
        </p:spPr>
        <p:txBody>
          <a:bodyPr spcFirstLastPara="1" wrap="square" lIns="91425" tIns="45700" rIns="91425" bIns="45700" anchor="t" anchorCtr="0">
            <a:spAutoFit/>
          </a:bodyPr>
          <a:lstStyle/>
          <a:p>
            <a:r>
              <a:rPr lang="en-US" sz="1200" dirty="0">
                <a:latin typeface="Arial" panose="020B0604020202020204" pitchFamily="34" charset="0"/>
                <a:cs typeface="Arial" panose="020B0604020202020204" pitchFamily="34" charset="0"/>
              </a:rPr>
              <a:t>Warsaw, 22</a:t>
            </a:r>
            <a:r>
              <a:rPr lang="en-US" sz="1200" baseline="30000" dirty="0">
                <a:latin typeface="Arial" panose="020B0604020202020204" pitchFamily="34" charset="0"/>
                <a:cs typeface="Arial" panose="020B0604020202020204" pitchFamily="34" charset="0"/>
              </a:rPr>
              <a:t>nd</a:t>
            </a:r>
            <a:r>
              <a:rPr lang="en-US" sz="1200" dirty="0">
                <a:latin typeface="Arial" panose="020B0604020202020204" pitchFamily="34" charset="0"/>
                <a:cs typeface="Arial" panose="020B0604020202020204" pitchFamily="34" charset="0"/>
              </a:rPr>
              <a:t> of January 2026</a:t>
            </a:r>
          </a:p>
        </p:txBody>
      </p:sp>
      <p:sp>
        <p:nvSpPr>
          <p:cNvPr id="162" name="Google Shape;162;p1"/>
          <p:cNvSpPr txBox="1"/>
          <p:nvPr/>
        </p:nvSpPr>
        <p:spPr>
          <a:xfrm>
            <a:off x="1583474" y="3587610"/>
            <a:ext cx="6480600" cy="369291"/>
          </a:xfrm>
          <a:prstGeom prst="rect">
            <a:avLst/>
          </a:prstGeom>
          <a:noFill/>
          <a:ln>
            <a:noFill/>
          </a:ln>
        </p:spPr>
        <p:txBody>
          <a:bodyPr spcFirstLastPara="1" wrap="square" lIns="91425" tIns="45700" rIns="91425" bIns="45700" anchor="t" anchorCtr="0">
            <a:spAutoFit/>
          </a:bodyPr>
          <a:lstStyle/>
          <a:p>
            <a:r>
              <a:rPr lang="en-US" sz="1800" dirty="0">
                <a:latin typeface="Arial" panose="020B0604020202020204" pitchFamily="34" charset="0"/>
                <a:cs typeface="Arial" panose="020B0604020202020204" pitchFamily="34" charset="0"/>
              </a:rPr>
              <a:t>Introduction to Reinforcement Learning</a:t>
            </a:r>
          </a:p>
        </p:txBody>
      </p:sp>
      <p:cxnSp>
        <p:nvCxnSpPr>
          <p:cNvPr id="163" name="Google Shape;163;p1"/>
          <p:cNvCxnSpPr/>
          <p:nvPr/>
        </p:nvCxnSpPr>
        <p:spPr>
          <a:xfrm>
            <a:off x="1583474" y="3956901"/>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64" name="Google Shape;164;p1"/>
          <p:cNvSpPr txBox="1"/>
          <p:nvPr/>
        </p:nvSpPr>
        <p:spPr>
          <a:xfrm>
            <a:off x="1583474" y="2294907"/>
            <a:ext cx="7200000" cy="830956"/>
          </a:xfrm>
          <a:prstGeom prst="rect">
            <a:avLst/>
          </a:prstGeom>
          <a:noFill/>
          <a:ln>
            <a:noFill/>
          </a:ln>
        </p:spPr>
        <p:txBody>
          <a:bodyPr spcFirstLastPara="1" wrap="square" lIns="91425" tIns="45700" rIns="91425" bIns="45700" anchor="t" anchorCtr="0">
            <a:spAutoFit/>
          </a:bodyPr>
          <a:lstStyle/>
          <a:p>
            <a:r>
              <a:rPr lang="en-US" sz="2400" b="1" dirty="0">
                <a:latin typeface="+mn-lt"/>
                <a:cs typeface="Arial" panose="020B0604020202020204" pitchFamily="34" charset="0"/>
              </a:rPr>
              <a:t>Blackjack using Double Q-learning </a:t>
            </a:r>
          </a:p>
          <a:p>
            <a:r>
              <a:rPr lang="en-US" sz="2400" b="1" dirty="0">
                <a:latin typeface="+mn-lt"/>
                <a:cs typeface="Arial" panose="020B0604020202020204" pitchFamily="34" charset="0"/>
              </a:rPr>
              <a:t>and </a:t>
            </a:r>
            <a:r>
              <a:rPr lang="en-US" sz="2400" b="1" i="1" dirty="0">
                <a:latin typeface="+mn-lt"/>
              </a:rPr>
              <a:t>A2C with GAE(</a:t>
            </a:r>
            <a:r>
              <a:rPr lang="en-US" sz="2400" b="1" i="1" dirty="0" err="1">
                <a:latin typeface="+mn-lt"/>
              </a:rPr>
              <a:t>λ</a:t>
            </a:r>
            <a:r>
              <a:rPr lang="en-US" sz="2400" b="1" i="1" dirty="0">
                <a:latin typeface="+mn-lt"/>
              </a:rPr>
              <a:t>) (actor-critic)</a:t>
            </a:r>
            <a:r>
              <a:rPr lang="en-US" sz="2400" b="1" dirty="0">
                <a:latin typeface="+mn-lt"/>
              </a:rPr>
              <a:t> </a:t>
            </a:r>
            <a:r>
              <a:rPr lang="en-US" sz="2400" b="1" dirty="0">
                <a:latin typeface="+mn-lt"/>
                <a:cs typeface="Arial" panose="020B0604020202020204" pitchFamily="34" charset="0"/>
              </a:rPr>
              <a:t> </a:t>
            </a:r>
            <a:endParaRPr lang="en-US" sz="2400" b="1" dirty="0">
              <a:latin typeface="+mn-lt"/>
              <a:ea typeface="Times New Roman" panose="02020603050405020304" pitchFamily="18" charset="0"/>
              <a:cs typeface="Arial" panose="020B0604020202020204" pitchFamily="34" charset="0"/>
            </a:endParaRPr>
          </a:p>
        </p:txBody>
      </p:sp>
      <p:sp>
        <p:nvSpPr>
          <p:cNvPr id="165" name="Google Shape;165;p1"/>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Arial"/>
                <a:ea typeface="Arial"/>
                <a:cs typeface="Arial"/>
                <a:sym typeface="Arial"/>
              </a:rPr>
              <a:t>Piotr Radziszewski, Andrzej Żernaczuk</a:t>
            </a:r>
            <a:endParaRPr lang="en-US" dirty="0"/>
          </a:p>
        </p:txBody>
      </p:sp>
      <p:pic>
        <p:nvPicPr>
          <p:cNvPr id="166" name="Google Shape;166;p1"/>
          <p:cNvPicPr preferRelativeResize="0"/>
          <p:nvPr/>
        </p:nvPicPr>
        <p:blipFill rotWithShape="1">
          <a:blip r:embed="rId3">
            <a:alphaModFix/>
          </a:blip>
          <a:srcRect/>
          <a:stretch/>
        </p:blipFill>
        <p:spPr>
          <a:xfrm>
            <a:off x="1490356" y="376370"/>
            <a:ext cx="3958468" cy="11237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cxnSp>
        <p:nvCxnSpPr>
          <p:cNvPr id="185" name="Google Shape;185;p3"/>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2</a:t>
            </a:r>
            <a:endParaRPr dirty="0"/>
          </a:p>
        </p:txBody>
      </p:sp>
      <p:cxnSp>
        <p:nvCxnSpPr>
          <p:cNvPr id="192" name="Google Shape;192;p3"/>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Game </a:t>
            </a:r>
            <a:r>
              <a:rPr lang="pl-PL" sz="2400" b="1" dirty="0" err="1">
                <a:solidFill>
                  <a:schemeClr val="dk1"/>
                </a:solidFill>
              </a:rPr>
              <a:t>description</a:t>
            </a:r>
            <a:r>
              <a:rPr lang="pl-PL" sz="2400" b="1" dirty="0">
                <a:solidFill>
                  <a:schemeClr val="dk1"/>
                </a:solidFill>
                <a:latin typeface="Arial"/>
                <a:ea typeface="Arial"/>
                <a:cs typeface="Arial"/>
                <a:sym typeface="Arial"/>
              </a:rPr>
              <a:t> </a:t>
            </a:r>
            <a:endParaRPr dirty="0"/>
          </a:p>
        </p:txBody>
      </p:sp>
      <p:sp>
        <p:nvSpPr>
          <p:cNvPr id="6" name="Google Shape;210;p4">
            <a:extLst>
              <a:ext uri="{FF2B5EF4-FFF2-40B4-BE49-F238E27FC236}">
                <a16:creationId xmlns:a16="http://schemas.microsoft.com/office/drawing/2014/main" id="{83200D56-15C4-3F7E-490C-63FE089DA773}"/>
              </a:ext>
            </a:extLst>
          </p:cNvPr>
          <p:cNvSpPr txBox="1"/>
          <p:nvPr/>
        </p:nvSpPr>
        <p:spPr>
          <a:xfrm>
            <a:off x="1583474" y="1277225"/>
            <a:ext cx="6784670" cy="4247276"/>
          </a:xfrm>
          <a:prstGeom prst="rect">
            <a:avLst/>
          </a:prstGeom>
          <a:noFill/>
          <a:ln>
            <a:noFill/>
          </a:ln>
        </p:spPr>
        <p:txBody>
          <a:bodyPr spcFirstLastPara="1" wrap="square" lIns="91425" tIns="45700" rIns="91425" bIns="45700" anchor="t" anchorCtr="0">
            <a:spAutoFit/>
          </a:bodyPr>
          <a:lstStyle/>
          <a:p>
            <a:pPr lvl="0" eaLnBrk="0" fontAlgn="base" hangingPunct="0">
              <a:lnSpc>
                <a:spcPct val="150000"/>
              </a:lnSpc>
              <a:spcBef>
                <a:spcPct val="0"/>
              </a:spcBef>
              <a:spcAft>
                <a:spcPct val="0"/>
              </a:spcAft>
              <a:buClrTx/>
            </a:pPr>
            <a:r>
              <a:rPr lang="en-US" altLang="en-US" sz="1800" b="1" dirty="0">
                <a:solidFill>
                  <a:schemeClr val="tx1"/>
                </a:solidFill>
                <a:latin typeface="Calibri" panose="020F0502020204030204" pitchFamily="34" charset="0"/>
                <a:cs typeface="Calibri" panose="020F0502020204030204" pitchFamily="34" charset="0"/>
              </a:rPr>
              <a:t>Environment: </a:t>
            </a:r>
            <a:r>
              <a:rPr lang="en-US" altLang="en-US" sz="1800" dirty="0">
                <a:solidFill>
                  <a:schemeClr val="tx1"/>
                </a:solidFill>
                <a:latin typeface="Calibri" panose="020F0502020204030204" pitchFamily="34" charset="0"/>
                <a:cs typeface="Calibri" panose="020F0502020204030204" pitchFamily="34" charset="0"/>
              </a:rPr>
              <a:t>Gymnasium Blackjack-v1</a:t>
            </a:r>
          </a:p>
          <a:p>
            <a:pPr lvl="0" eaLnBrk="0" fontAlgn="base" hangingPunct="0">
              <a:lnSpc>
                <a:spcPct val="150000"/>
              </a:lnSpc>
              <a:spcBef>
                <a:spcPct val="0"/>
              </a:spcBef>
              <a:spcAft>
                <a:spcPct val="0"/>
              </a:spcAft>
              <a:buClrTx/>
            </a:pPr>
            <a:endParaRPr lang="en-US" altLang="en-US" sz="1800" dirty="0">
              <a:solidFill>
                <a:schemeClr val="tx1"/>
              </a:solidFill>
              <a:latin typeface="Calibri" panose="020F0502020204030204" pitchFamily="34" charset="0"/>
              <a:cs typeface="Calibri" panose="020F0502020204030204" pitchFamily="34" charset="0"/>
            </a:endParaRPr>
          </a:p>
          <a:p>
            <a:pPr lvl="0" eaLnBrk="0" fontAlgn="base" hangingPunct="0">
              <a:lnSpc>
                <a:spcPct val="150000"/>
              </a:lnSpc>
              <a:spcBef>
                <a:spcPct val="0"/>
              </a:spcBef>
              <a:spcAft>
                <a:spcPct val="0"/>
              </a:spcAft>
              <a:buClrTx/>
            </a:pPr>
            <a:r>
              <a:rPr lang="en-US" altLang="en-US" sz="1800" dirty="0">
                <a:solidFill>
                  <a:schemeClr val="tx1"/>
                </a:solidFill>
                <a:latin typeface="Calibri" panose="020F0502020204030204" pitchFamily="34" charset="0"/>
                <a:cs typeface="Calibri" panose="020F0502020204030204" pitchFamily="34" charset="0"/>
              </a:rPr>
              <a:t>The game starts with the dealer having one face up and one face down card, while the player has two face up cards. All cards are drawn from an infinite deck.</a:t>
            </a:r>
          </a:p>
          <a:p>
            <a:pPr lvl="0" eaLnBrk="0" fontAlgn="base" hangingPunct="0">
              <a:lnSpc>
                <a:spcPct val="150000"/>
              </a:lnSpc>
              <a:spcBef>
                <a:spcPct val="0"/>
              </a:spcBef>
              <a:spcAft>
                <a:spcPct val="0"/>
              </a:spcAft>
              <a:buClrTx/>
            </a:pPr>
            <a:endParaRPr lang="en-US" altLang="en-US" sz="1800" dirty="0">
              <a:solidFill>
                <a:schemeClr val="tx1"/>
              </a:solidFill>
              <a:latin typeface="Calibri" panose="020F0502020204030204" pitchFamily="34" charset="0"/>
              <a:cs typeface="Calibri" panose="020F0502020204030204" pitchFamily="34" charset="0"/>
            </a:endParaRPr>
          </a:p>
          <a:p>
            <a:pPr lvl="0" eaLnBrk="0" fontAlgn="base" hangingPunct="0">
              <a:lnSpc>
                <a:spcPct val="150000"/>
              </a:lnSpc>
              <a:spcBef>
                <a:spcPct val="0"/>
              </a:spcBef>
              <a:spcAft>
                <a:spcPct val="0"/>
              </a:spcAft>
              <a:buClrTx/>
            </a:pPr>
            <a:r>
              <a:rPr lang="en-US" altLang="en-US" sz="1800" b="1" dirty="0">
                <a:solidFill>
                  <a:schemeClr val="tx1"/>
                </a:solidFill>
                <a:latin typeface="Calibri" panose="020F0502020204030204" pitchFamily="34" charset="0"/>
                <a:cs typeface="Calibri" panose="020F0502020204030204" pitchFamily="34" charset="0"/>
              </a:rPr>
              <a:t>The card values are:</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800" dirty="0">
                <a:solidFill>
                  <a:schemeClr val="tx1"/>
                </a:solidFill>
                <a:latin typeface="Calibri" panose="020F0502020204030204" pitchFamily="34" charset="0"/>
                <a:cs typeface="Calibri" panose="020F0502020204030204" pitchFamily="34" charset="0"/>
              </a:rPr>
              <a:t>Face cards (Jack, Queen, King) have a point value of 10.</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800" dirty="0">
                <a:solidFill>
                  <a:schemeClr val="tx1"/>
                </a:solidFill>
                <a:latin typeface="Calibri" panose="020F0502020204030204" pitchFamily="34" charset="0"/>
                <a:cs typeface="Calibri" panose="020F0502020204030204" pitchFamily="34" charset="0"/>
              </a:rPr>
              <a:t>Aces can either count as 11 (called a ‘usable ace’) or 1.</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800" dirty="0">
                <a:solidFill>
                  <a:schemeClr val="tx1"/>
                </a:solidFill>
                <a:latin typeface="Calibri" panose="020F0502020204030204" pitchFamily="34" charset="0"/>
                <a:cs typeface="Calibri" panose="020F0502020204030204" pitchFamily="34" charset="0"/>
              </a:rPr>
              <a:t>Numerical cards (2-10) have a value equal to their number.</a:t>
            </a:r>
          </a:p>
        </p:txBody>
      </p:sp>
    </p:spTree>
    <p:extLst>
      <p:ext uri="{BB962C8B-B14F-4D97-AF65-F5344CB8AC3E}">
        <p14:creationId xmlns:p14="http://schemas.microsoft.com/office/powerpoint/2010/main" val="26866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801D225E-C327-0C88-01D5-9B2022453B29}"/>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9DBA0EB9-04BD-085B-39C7-279DBB193C70}"/>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91C47D0E-2796-E52B-9C6B-8719E443A8B6}"/>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F0510036-FA83-A624-E457-35FC3495FEBD}"/>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D32A2E8C-B70F-0912-5CDE-9245D8C6591D}"/>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939F2786-2275-1B1C-E927-D42E3B5D2B94}"/>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539C8CD2-28A8-580D-DDB3-D447F2AF03EA}"/>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3</a:t>
            </a:r>
            <a:endParaRPr dirty="0"/>
          </a:p>
        </p:txBody>
      </p:sp>
      <p:cxnSp>
        <p:nvCxnSpPr>
          <p:cNvPr id="192" name="Google Shape;192;p3">
            <a:extLst>
              <a:ext uri="{FF2B5EF4-FFF2-40B4-BE49-F238E27FC236}">
                <a16:creationId xmlns:a16="http://schemas.microsoft.com/office/drawing/2014/main" id="{7C9ED609-F653-36FD-1518-B1FD1EF74724}"/>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9625BA1F-FC89-A6BA-6CAD-BE0D7334C918}"/>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Game </a:t>
            </a:r>
            <a:r>
              <a:rPr lang="pl-PL" sz="2400" b="1" dirty="0" err="1">
                <a:solidFill>
                  <a:schemeClr val="dk1"/>
                </a:solidFill>
              </a:rPr>
              <a:t>description</a:t>
            </a:r>
            <a:r>
              <a:rPr lang="pl-PL" sz="2400" b="1" dirty="0">
                <a:solidFill>
                  <a:schemeClr val="dk1"/>
                </a:solidFill>
              </a:rPr>
              <a:t> </a:t>
            </a:r>
            <a:r>
              <a:rPr lang="pl-PL" sz="2400" b="1" dirty="0" err="1">
                <a:solidFill>
                  <a:schemeClr val="dk1"/>
                </a:solidFill>
              </a:rPr>
              <a:t>cont’d</a:t>
            </a:r>
            <a:r>
              <a:rPr lang="pl-PL" sz="2400" b="1" dirty="0">
                <a:solidFill>
                  <a:schemeClr val="dk1"/>
                </a:solidFill>
                <a:latin typeface="Arial"/>
                <a:ea typeface="Arial"/>
                <a:cs typeface="Arial"/>
                <a:sym typeface="Arial"/>
              </a:rPr>
              <a:t> </a:t>
            </a:r>
            <a:endParaRPr dirty="0"/>
          </a:p>
        </p:txBody>
      </p:sp>
      <p:sp>
        <p:nvSpPr>
          <p:cNvPr id="6" name="Google Shape;210;p4">
            <a:extLst>
              <a:ext uri="{FF2B5EF4-FFF2-40B4-BE49-F238E27FC236}">
                <a16:creationId xmlns:a16="http://schemas.microsoft.com/office/drawing/2014/main" id="{7262A531-73BB-A02A-1557-5214FDDBBC79}"/>
              </a:ext>
            </a:extLst>
          </p:cNvPr>
          <p:cNvSpPr txBox="1"/>
          <p:nvPr/>
        </p:nvSpPr>
        <p:spPr>
          <a:xfrm>
            <a:off x="1583474" y="1277225"/>
            <a:ext cx="6784670" cy="4247276"/>
          </a:xfrm>
          <a:prstGeom prst="rect">
            <a:avLst/>
          </a:prstGeom>
          <a:noFill/>
          <a:ln>
            <a:noFill/>
          </a:ln>
        </p:spPr>
        <p:txBody>
          <a:bodyPr spcFirstLastPara="1" wrap="square" lIns="91425" tIns="45700" rIns="91425" bIns="45700" anchor="t" anchorCtr="0">
            <a:spAutoFit/>
          </a:bodyPr>
          <a:lstStyle/>
          <a:p>
            <a:pPr lvl="0" eaLnBrk="0" fontAlgn="base" hangingPunct="0">
              <a:lnSpc>
                <a:spcPct val="150000"/>
              </a:lnSpc>
              <a:spcBef>
                <a:spcPct val="0"/>
              </a:spcBef>
              <a:spcAft>
                <a:spcPct val="0"/>
              </a:spcAft>
              <a:buClrTx/>
            </a:pPr>
            <a:r>
              <a:rPr lang="en-US" altLang="en-US" sz="1800" dirty="0">
                <a:solidFill>
                  <a:schemeClr val="tx1"/>
                </a:solidFill>
                <a:latin typeface="Calibri" panose="020F0502020204030204" pitchFamily="34" charset="0"/>
                <a:cs typeface="Calibri" panose="020F0502020204030204" pitchFamily="34" charset="0"/>
              </a:rPr>
              <a:t>The player has the sum of cards held. The player can request additional cards (hit) until they decide to stop (stick) or exceed 21 (bust, immediate loss).</a:t>
            </a:r>
          </a:p>
          <a:p>
            <a:pPr lvl="0" eaLnBrk="0" fontAlgn="base" hangingPunct="0">
              <a:lnSpc>
                <a:spcPct val="150000"/>
              </a:lnSpc>
              <a:spcBef>
                <a:spcPct val="0"/>
              </a:spcBef>
              <a:spcAft>
                <a:spcPct val="0"/>
              </a:spcAft>
              <a:buClrTx/>
            </a:pPr>
            <a:endParaRPr lang="en-US" altLang="en-US" sz="1800" dirty="0">
              <a:solidFill>
                <a:schemeClr val="tx1"/>
              </a:solidFill>
              <a:latin typeface="Calibri" panose="020F0502020204030204" pitchFamily="34" charset="0"/>
              <a:cs typeface="Calibri" panose="020F0502020204030204" pitchFamily="34" charset="0"/>
            </a:endParaRPr>
          </a:p>
          <a:p>
            <a:pPr lvl="0" eaLnBrk="0" fontAlgn="base" hangingPunct="0">
              <a:lnSpc>
                <a:spcPct val="150000"/>
              </a:lnSpc>
              <a:spcBef>
                <a:spcPct val="0"/>
              </a:spcBef>
              <a:spcAft>
                <a:spcPct val="0"/>
              </a:spcAft>
              <a:buClrTx/>
            </a:pPr>
            <a:r>
              <a:rPr lang="en-US" altLang="en-US" sz="1800" dirty="0">
                <a:solidFill>
                  <a:schemeClr val="tx1"/>
                </a:solidFill>
                <a:latin typeface="Calibri" panose="020F0502020204030204" pitchFamily="34" charset="0"/>
                <a:cs typeface="Calibri" panose="020F0502020204030204" pitchFamily="34" charset="0"/>
              </a:rPr>
              <a:t>After the player sticks, the dealer reveals their facedown card and draws cards until their sum is 17 or greater. If the dealer goes bust, the player wins.</a:t>
            </a:r>
          </a:p>
          <a:p>
            <a:pPr lvl="0" eaLnBrk="0" fontAlgn="base" hangingPunct="0">
              <a:lnSpc>
                <a:spcPct val="150000"/>
              </a:lnSpc>
              <a:spcBef>
                <a:spcPct val="0"/>
              </a:spcBef>
              <a:spcAft>
                <a:spcPct val="0"/>
              </a:spcAft>
              <a:buClrTx/>
            </a:pPr>
            <a:endParaRPr lang="en-US" altLang="en-US" sz="1800" dirty="0">
              <a:solidFill>
                <a:schemeClr val="tx1"/>
              </a:solidFill>
              <a:latin typeface="Calibri" panose="020F0502020204030204" pitchFamily="34" charset="0"/>
              <a:cs typeface="Calibri" panose="020F0502020204030204" pitchFamily="34" charset="0"/>
            </a:endParaRPr>
          </a:p>
          <a:p>
            <a:pPr lvl="0" eaLnBrk="0" fontAlgn="base" hangingPunct="0">
              <a:lnSpc>
                <a:spcPct val="150000"/>
              </a:lnSpc>
              <a:spcBef>
                <a:spcPct val="0"/>
              </a:spcBef>
              <a:spcAft>
                <a:spcPct val="0"/>
              </a:spcAft>
              <a:buClrTx/>
            </a:pPr>
            <a:r>
              <a:rPr lang="en-US" altLang="en-US" sz="1800" dirty="0">
                <a:solidFill>
                  <a:schemeClr val="tx1"/>
                </a:solidFill>
                <a:latin typeface="Calibri" panose="020F0502020204030204" pitchFamily="34" charset="0"/>
                <a:cs typeface="Calibri" panose="020F0502020204030204" pitchFamily="34" charset="0"/>
              </a:rPr>
              <a:t>If neither the player nor the dealer busts, the outcome (win, lose, draw) is decided by whose sum is closer to 21.</a:t>
            </a:r>
          </a:p>
        </p:txBody>
      </p:sp>
    </p:spTree>
    <p:extLst>
      <p:ext uri="{BB962C8B-B14F-4D97-AF65-F5344CB8AC3E}">
        <p14:creationId xmlns:p14="http://schemas.microsoft.com/office/powerpoint/2010/main" val="3640607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800E3CA4-553F-6E1A-5472-0B2B12B0D67C}"/>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18FCFD9B-EF7A-A09F-98FE-0B917F81DC1D}"/>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0DE020CD-D437-ED68-7C24-4F20900611D5}"/>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2209BE96-1AE2-D41E-366A-F8428861BAAA}"/>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B47F1373-F72E-AB8D-934F-449FE9BA2D0B}"/>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8D7C4E3F-359A-858E-006E-7BA7E3CE9BB9}"/>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C3E2F2E7-2343-6735-C568-7A2329457D2E}"/>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4</a:t>
            </a:r>
            <a:endParaRPr dirty="0"/>
          </a:p>
        </p:txBody>
      </p:sp>
      <p:cxnSp>
        <p:nvCxnSpPr>
          <p:cNvPr id="192" name="Google Shape;192;p3">
            <a:extLst>
              <a:ext uri="{FF2B5EF4-FFF2-40B4-BE49-F238E27FC236}">
                <a16:creationId xmlns:a16="http://schemas.microsoft.com/office/drawing/2014/main" id="{BBA9648E-CDFE-43A1-0242-DD2903C88995}"/>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423E6A3B-F204-0C16-8329-2900ED041D65}"/>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latin typeface="Arial"/>
                <a:ea typeface="Arial"/>
                <a:cs typeface="Arial"/>
                <a:sym typeface="Arial"/>
              </a:rPr>
              <a:t>Environment </a:t>
            </a:r>
            <a:endParaRPr dirty="0"/>
          </a:p>
        </p:txBody>
      </p:sp>
      <p:sp>
        <p:nvSpPr>
          <p:cNvPr id="6" name="Google Shape;210;p4">
            <a:extLst>
              <a:ext uri="{FF2B5EF4-FFF2-40B4-BE49-F238E27FC236}">
                <a16:creationId xmlns:a16="http://schemas.microsoft.com/office/drawing/2014/main" id="{5B2ED6B3-5C35-14AF-953C-9F12C72B2179}"/>
              </a:ext>
            </a:extLst>
          </p:cNvPr>
          <p:cNvSpPr txBox="1"/>
          <p:nvPr/>
        </p:nvSpPr>
        <p:spPr>
          <a:xfrm>
            <a:off x="1583474" y="1485569"/>
            <a:ext cx="6784670" cy="341627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1800"/>
              <a:buFont typeface="Arial"/>
              <a:buChar char="•"/>
            </a:pPr>
            <a:r>
              <a:rPr lang="pl-PL" sz="1800" b="1" dirty="0" err="1">
                <a:solidFill>
                  <a:schemeClr val="dk1"/>
                </a:solidFill>
                <a:latin typeface="Calibri" panose="020F0502020204030204" pitchFamily="34" charset="0"/>
                <a:ea typeface="Calibri"/>
                <a:cs typeface="Calibri" panose="020F0502020204030204" pitchFamily="34" charset="0"/>
                <a:sym typeface="Calibri"/>
              </a:rPr>
              <a:t>Starting</a:t>
            </a:r>
            <a:r>
              <a:rPr lang="pl-PL" sz="1800" b="1" dirty="0">
                <a:solidFill>
                  <a:schemeClr val="dk1"/>
                </a:solidFill>
                <a:latin typeface="Calibri" panose="020F0502020204030204" pitchFamily="34" charset="0"/>
                <a:ea typeface="Calibri"/>
                <a:cs typeface="Calibri" panose="020F0502020204030204" pitchFamily="34" charset="0"/>
                <a:sym typeface="Calibri"/>
              </a:rPr>
              <a:t> </a:t>
            </a:r>
            <a:r>
              <a:rPr lang="pl-PL" sz="1800" b="1" dirty="0" err="1">
                <a:solidFill>
                  <a:schemeClr val="dk1"/>
                </a:solidFill>
                <a:latin typeface="Calibri" panose="020F0502020204030204" pitchFamily="34" charset="0"/>
                <a:ea typeface="Calibri"/>
                <a:cs typeface="Calibri" panose="020F0502020204030204" pitchFamily="34" charset="0"/>
                <a:sym typeface="Calibri"/>
              </a:rPr>
              <a:t>state</a:t>
            </a:r>
            <a:r>
              <a:rPr lang="pl-PL" sz="1800" b="1" dirty="0">
                <a:solidFill>
                  <a:schemeClr val="dk1"/>
                </a:solidFill>
                <a:latin typeface="Calibri" panose="020F0502020204030204" pitchFamily="34" charset="0"/>
                <a:ea typeface="Calibri"/>
                <a:cs typeface="Calibri" panose="020F0502020204030204" pitchFamily="34" charset="0"/>
                <a:sym typeface="Calibri"/>
              </a:rPr>
              <a:t>:</a:t>
            </a: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panose="020F0502020204030204" pitchFamily="34" charset="0"/>
                <a:ea typeface="Calibri"/>
                <a:cs typeface="Calibri" panose="020F0502020204030204" pitchFamily="34" charset="0"/>
                <a:sym typeface="Calibri"/>
              </a:rPr>
              <a:t>Player </a:t>
            </a:r>
            <a:r>
              <a:rPr lang="pl-PL" sz="1800" dirty="0" err="1">
                <a:solidFill>
                  <a:schemeClr val="dk1"/>
                </a:solidFill>
                <a:latin typeface="Calibri" panose="020F0502020204030204" pitchFamily="34" charset="0"/>
                <a:ea typeface="Calibri"/>
                <a:cs typeface="Calibri" panose="020F0502020204030204" pitchFamily="34" charset="0"/>
                <a:sym typeface="Calibri"/>
              </a:rPr>
              <a:t>current</a:t>
            </a:r>
            <a:r>
              <a:rPr lang="pl-PL" sz="1800" dirty="0">
                <a:solidFill>
                  <a:schemeClr val="dk1"/>
                </a:solidFill>
                <a:latin typeface="Calibri" panose="020F0502020204030204" pitchFamily="34" charset="0"/>
                <a:ea typeface="Calibri"/>
                <a:cs typeface="Calibri" panose="020F0502020204030204" pitchFamily="34" charset="0"/>
                <a:sym typeface="Calibri"/>
              </a:rPr>
              <a:t> sum: {4, 5, …, 21}</a:t>
            </a: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panose="020F0502020204030204" pitchFamily="34" charset="0"/>
                <a:ea typeface="Calibri"/>
                <a:cs typeface="Calibri" panose="020F0502020204030204" pitchFamily="34" charset="0"/>
                <a:sym typeface="Calibri"/>
              </a:rPr>
              <a:t>Dealer </a:t>
            </a:r>
            <a:r>
              <a:rPr lang="pl-PL" sz="1800" dirty="0" err="1">
                <a:solidFill>
                  <a:schemeClr val="dk1"/>
                </a:solidFill>
                <a:latin typeface="Calibri" panose="020F0502020204030204" pitchFamily="34" charset="0"/>
                <a:ea typeface="Calibri"/>
                <a:cs typeface="Calibri" panose="020F0502020204030204" pitchFamily="34" charset="0"/>
                <a:sym typeface="Calibri"/>
              </a:rPr>
              <a:t>showing</a:t>
            </a:r>
            <a:r>
              <a:rPr lang="pl-PL" sz="1800" dirty="0">
                <a:solidFill>
                  <a:schemeClr val="dk1"/>
                </a:solidFill>
                <a:latin typeface="Calibri" panose="020F0502020204030204" pitchFamily="34" charset="0"/>
                <a:ea typeface="Calibri"/>
                <a:cs typeface="Calibri" panose="020F0502020204030204" pitchFamily="34" charset="0"/>
                <a:sym typeface="Calibri"/>
              </a:rPr>
              <a:t> </a:t>
            </a:r>
            <a:r>
              <a:rPr lang="pl-PL" sz="1800" dirty="0" err="1">
                <a:solidFill>
                  <a:schemeClr val="dk1"/>
                </a:solidFill>
                <a:latin typeface="Calibri" panose="020F0502020204030204" pitchFamily="34" charset="0"/>
                <a:ea typeface="Calibri"/>
                <a:cs typeface="Calibri" panose="020F0502020204030204" pitchFamily="34" charset="0"/>
                <a:sym typeface="Calibri"/>
              </a:rPr>
              <a:t>card</a:t>
            </a:r>
            <a:r>
              <a:rPr lang="pl-PL" sz="1800" dirty="0">
                <a:solidFill>
                  <a:schemeClr val="dk1"/>
                </a:solidFill>
                <a:latin typeface="Calibri" panose="020F0502020204030204" pitchFamily="34" charset="0"/>
                <a:ea typeface="Calibri"/>
                <a:cs typeface="Calibri" panose="020F0502020204030204" pitchFamily="34" charset="0"/>
                <a:sym typeface="Calibri"/>
              </a:rPr>
              <a:t> </a:t>
            </a:r>
            <a:r>
              <a:rPr lang="pl-PL" sz="1800" dirty="0" err="1">
                <a:solidFill>
                  <a:schemeClr val="dk1"/>
                </a:solidFill>
                <a:latin typeface="Calibri" panose="020F0502020204030204" pitchFamily="34" charset="0"/>
                <a:ea typeface="Calibri"/>
                <a:cs typeface="Calibri" panose="020F0502020204030204" pitchFamily="34" charset="0"/>
                <a:sym typeface="Calibri"/>
              </a:rPr>
              <a:t>value</a:t>
            </a:r>
            <a:r>
              <a:rPr lang="pl-PL" sz="1800" dirty="0">
                <a:solidFill>
                  <a:schemeClr val="dk1"/>
                </a:solidFill>
                <a:latin typeface="Calibri" panose="020F0502020204030204" pitchFamily="34" charset="0"/>
                <a:ea typeface="Calibri"/>
                <a:cs typeface="Calibri" panose="020F0502020204030204" pitchFamily="34" charset="0"/>
                <a:sym typeface="Calibri"/>
              </a:rPr>
              <a:t>: {1, 2, …, 10}</a:t>
            </a: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err="1">
                <a:solidFill>
                  <a:schemeClr val="dk1"/>
                </a:solidFill>
                <a:latin typeface="Calibri" panose="020F0502020204030204" pitchFamily="34" charset="0"/>
                <a:ea typeface="Calibri"/>
                <a:cs typeface="Calibri" panose="020F0502020204030204" pitchFamily="34" charset="0"/>
                <a:sym typeface="Calibri"/>
              </a:rPr>
              <a:t>Usable</a:t>
            </a:r>
            <a:r>
              <a:rPr lang="pl-PL" sz="1800" dirty="0">
                <a:solidFill>
                  <a:schemeClr val="dk1"/>
                </a:solidFill>
                <a:latin typeface="Calibri" panose="020F0502020204030204" pitchFamily="34" charset="0"/>
                <a:ea typeface="Calibri"/>
                <a:cs typeface="Calibri" panose="020F0502020204030204" pitchFamily="34" charset="0"/>
                <a:sym typeface="Calibri"/>
              </a:rPr>
              <a:t> Ace: {0, 1}</a:t>
            </a:r>
          </a:p>
          <a:p>
            <a:pPr marL="285750" marR="0" lvl="0" indent="-274638" algn="l" rtl="0">
              <a:lnSpc>
                <a:spcPct val="150000"/>
              </a:lnSpc>
              <a:spcBef>
                <a:spcPts val="0"/>
              </a:spcBef>
              <a:spcAft>
                <a:spcPts val="0"/>
              </a:spcAft>
              <a:buClr>
                <a:schemeClr val="dk1"/>
              </a:buClr>
              <a:buSzPts val="1800"/>
            </a:pPr>
            <a:endParaRPr lang="pl-PL" sz="1800" dirty="0">
              <a:solidFill>
                <a:schemeClr val="dk1"/>
              </a:solidFill>
              <a:latin typeface="Calibri" panose="020F0502020204030204" pitchFamily="34" charset="0"/>
              <a:ea typeface="Calibri"/>
              <a:cs typeface="Calibri" panose="020F0502020204030204" pitchFamily="34" charset="0"/>
              <a:sym typeface="Calibri"/>
            </a:endParaRPr>
          </a:p>
          <a:p>
            <a:pPr marL="11113" lvl="0">
              <a:lnSpc>
                <a:spcPct val="150000"/>
              </a:lnSpc>
              <a:buClr>
                <a:schemeClr val="dk1"/>
              </a:buClr>
              <a:buSzPts val="1800"/>
            </a:pPr>
            <a:r>
              <a:rPr lang="en-US" sz="1800" dirty="0">
                <a:latin typeface="Calibri" panose="020F0502020204030204" pitchFamily="34" charset="0"/>
                <a:cs typeface="Calibri" panose="020F0502020204030204" pitchFamily="34" charset="0"/>
              </a:rPr>
              <a:t>The observation consists of a 3-tuple containing: the player’s current sum, the value of the dealer’s one showing card (1-10 where 1 is ace), and whether the player holds a usable ace (0 or 1)</a:t>
            </a:r>
          </a:p>
        </p:txBody>
      </p:sp>
    </p:spTree>
    <p:extLst>
      <p:ext uri="{BB962C8B-B14F-4D97-AF65-F5344CB8AC3E}">
        <p14:creationId xmlns:p14="http://schemas.microsoft.com/office/powerpoint/2010/main" val="3318109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7F8197E2-01A9-0DF9-0C25-84A13CB977AD}"/>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186087E5-B5F1-C1A0-A455-69CE040299BA}"/>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61818AF2-9CB9-339D-D83E-C353EED358AF}"/>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ABECF84F-5AC7-6D46-A383-5849169DFA5B}"/>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778E87F9-7235-E502-551B-E9D25E270E4B}"/>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658D2402-7C36-82DE-884D-DE167632FDA5}"/>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F3E7D353-4DC9-8FF1-5F26-1977E19B768E}"/>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5</a:t>
            </a:r>
            <a:endParaRPr dirty="0"/>
          </a:p>
        </p:txBody>
      </p:sp>
      <p:cxnSp>
        <p:nvCxnSpPr>
          <p:cNvPr id="192" name="Google Shape;192;p3">
            <a:extLst>
              <a:ext uri="{FF2B5EF4-FFF2-40B4-BE49-F238E27FC236}">
                <a16:creationId xmlns:a16="http://schemas.microsoft.com/office/drawing/2014/main" id="{26F54CAF-8175-3018-2C28-1E4A0E727CBB}"/>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55CAD1E9-899E-1741-7102-DBAA5AFAC7A7}"/>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latin typeface="Arial"/>
                <a:ea typeface="Arial"/>
                <a:cs typeface="Arial"/>
                <a:sym typeface="Arial"/>
              </a:rPr>
              <a:t>Environment </a:t>
            </a:r>
            <a:r>
              <a:rPr lang="pl-PL" sz="2400" b="1" dirty="0" err="1">
                <a:solidFill>
                  <a:schemeClr val="dk1"/>
                </a:solidFill>
                <a:latin typeface="Arial"/>
                <a:ea typeface="Arial"/>
                <a:cs typeface="Arial"/>
                <a:sym typeface="Arial"/>
              </a:rPr>
              <a:t>cont’d</a:t>
            </a:r>
            <a:r>
              <a:rPr lang="pl-PL" sz="2400" b="1" dirty="0">
                <a:solidFill>
                  <a:schemeClr val="dk1"/>
                </a:solidFill>
                <a:latin typeface="Arial"/>
                <a:ea typeface="Arial"/>
                <a:cs typeface="Arial"/>
                <a:sym typeface="Arial"/>
              </a:rPr>
              <a:t> </a:t>
            </a:r>
            <a:endParaRPr dirty="0"/>
          </a:p>
        </p:txBody>
      </p:sp>
      <p:sp>
        <p:nvSpPr>
          <p:cNvPr id="6" name="Google Shape;210;p4">
            <a:extLst>
              <a:ext uri="{FF2B5EF4-FFF2-40B4-BE49-F238E27FC236}">
                <a16:creationId xmlns:a16="http://schemas.microsoft.com/office/drawing/2014/main" id="{1D7964D5-CEFF-70D7-E66B-13FC2F8DFEE7}"/>
              </a:ext>
            </a:extLst>
          </p:cNvPr>
          <p:cNvSpPr txBox="1"/>
          <p:nvPr/>
        </p:nvSpPr>
        <p:spPr>
          <a:xfrm>
            <a:off x="1583474" y="1314363"/>
            <a:ext cx="6784670" cy="383177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1800"/>
              <a:buFont typeface="Arial"/>
              <a:buChar char="•"/>
            </a:pPr>
            <a:r>
              <a:rPr lang="pl-PL" sz="1800" b="1" dirty="0" err="1">
                <a:solidFill>
                  <a:schemeClr val="dk1"/>
                </a:solidFill>
                <a:latin typeface="Calibri"/>
                <a:ea typeface="Calibri"/>
                <a:cs typeface="Calibri"/>
                <a:sym typeface="Calibri"/>
              </a:rPr>
              <a:t>Actions</a:t>
            </a:r>
            <a:r>
              <a:rPr lang="pl-PL" sz="1800" b="1" dirty="0">
                <a:solidFill>
                  <a:schemeClr val="dk1"/>
                </a:solidFill>
                <a:latin typeface="Calibri"/>
                <a:ea typeface="Calibri"/>
                <a:cs typeface="Calibri"/>
                <a:sym typeface="Calibri"/>
              </a:rPr>
              <a:t>:</a:t>
            </a: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a:ea typeface="Calibri"/>
                <a:cs typeface="Calibri"/>
                <a:sym typeface="Calibri"/>
              </a:rPr>
              <a:t>0: </a:t>
            </a:r>
            <a:r>
              <a:rPr lang="pl-PL" sz="1800" dirty="0" err="1">
                <a:solidFill>
                  <a:schemeClr val="dk1"/>
                </a:solidFill>
                <a:latin typeface="Calibri"/>
                <a:ea typeface="Calibri"/>
                <a:cs typeface="Calibri"/>
                <a:sym typeface="Calibri"/>
              </a:rPr>
              <a:t>Stick</a:t>
            </a:r>
            <a:endParaRPr lang="pl-PL" sz="1800" dirty="0">
              <a:solidFill>
                <a:schemeClr val="dk1"/>
              </a:solidFill>
              <a:latin typeface="Calibri"/>
              <a:ea typeface="Calibri"/>
              <a:cs typeface="Calibri"/>
              <a:sym typeface="Calibri"/>
            </a:endParaRPr>
          </a:p>
          <a:p>
            <a:pPr marL="571500" marR="0" lvl="0" indent="-285750"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a:ea typeface="Calibri"/>
                <a:cs typeface="Calibri"/>
                <a:sym typeface="Calibri"/>
              </a:rPr>
              <a:t>1: Hit</a:t>
            </a:r>
          </a:p>
          <a:p>
            <a:pPr marL="285750" marR="0" lvl="0" indent="-285750" algn="l" rtl="0">
              <a:lnSpc>
                <a:spcPct val="150000"/>
              </a:lnSpc>
              <a:spcBef>
                <a:spcPts val="0"/>
              </a:spcBef>
              <a:spcAft>
                <a:spcPts val="0"/>
              </a:spcAft>
              <a:buClr>
                <a:schemeClr val="dk1"/>
              </a:buClr>
              <a:buSzPts val="1800"/>
              <a:buFont typeface="Arial"/>
              <a:buChar char="•"/>
            </a:pPr>
            <a:endParaRPr lang="pl-PL" sz="1800" dirty="0">
              <a:solidFill>
                <a:schemeClr val="dk1"/>
              </a:solidFill>
              <a:latin typeface="Calibri"/>
              <a:ea typeface="Calibri"/>
              <a:cs typeface="Calibri"/>
              <a:sym typeface="Calibri"/>
            </a:endParaRPr>
          </a:p>
          <a:p>
            <a:pPr marL="285750" marR="0" lvl="0" indent="-285750" algn="l" rtl="0">
              <a:lnSpc>
                <a:spcPct val="150000"/>
              </a:lnSpc>
              <a:spcBef>
                <a:spcPts val="0"/>
              </a:spcBef>
              <a:spcAft>
                <a:spcPts val="0"/>
              </a:spcAft>
              <a:buClr>
                <a:schemeClr val="dk1"/>
              </a:buClr>
              <a:buSzPts val="1800"/>
              <a:buFont typeface="Arial"/>
              <a:buChar char="•"/>
            </a:pPr>
            <a:r>
              <a:rPr lang="pl-PL" sz="1800" b="1" dirty="0" err="1">
                <a:solidFill>
                  <a:schemeClr val="dk1"/>
                </a:solidFill>
                <a:latin typeface="Calibri"/>
                <a:ea typeface="Calibri"/>
                <a:cs typeface="Calibri"/>
                <a:sym typeface="Calibri"/>
              </a:rPr>
              <a:t>Episode</a:t>
            </a:r>
            <a:r>
              <a:rPr lang="pl-PL" sz="1800" b="1" dirty="0">
                <a:solidFill>
                  <a:schemeClr val="dk1"/>
                </a:solidFill>
                <a:latin typeface="Calibri"/>
                <a:ea typeface="Calibri"/>
                <a:cs typeface="Calibri"/>
                <a:sym typeface="Calibri"/>
              </a:rPr>
              <a:t> </a:t>
            </a:r>
            <a:r>
              <a:rPr lang="pl-PL" sz="1800" b="1" dirty="0" err="1">
                <a:solidFill>
                  <a:schemeClr val="dk1"/>
                </a:solidFill>
                <a:latin typeface="Calibri"/>
                <a:ea typeface="Calibri"/>
                <a:cs typeface="Calibri"/>
                <a:sym typeface="Calibri"/>
              </a:rPr>
              <a:t>ends</a:t>
            </a:r>
            <a:r>
              <a:rPr lang="pl-PL" sz="1800" b="1" dirty="0">
                <a:solidFill>
                  <a:schemeClr val="dk1"/>
                </a:solidFill>
                <a:latin typeface="Calibri"/>
                <a:ea typeface="Calibri"/>
                <a:cs typeface="Calibri"/>
                <a:sym typeface="Calibri"/>
              </a:rPr>
              <a:t>:</a:t>
            </a:r>
          </a:p>
          <a:p>
            <a:pPr marL="295275" marR="0" lvl="0" indent="280988"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a:ea typeface="Calibri"/>
                <a:cs typeface="Calibri"/>
                <a:sym typeface="Calibri"/>
              </a:rPr>
              <a:t>The </a:t>
            </a:r>
            <a:r>
              <a:rPr lang="pl-PL" sz="1800" dirty="0" err="1">
                <a:solidFill>
                  <a:schemeClr val="dk1"/>
                </a:solidFill>
                <a:latin typeface="Calibri"/>
                <a:ea typeface="Calibri"/>
                <a:cs typeface="Calibri"/>
                <a:sym typeface="Calibri"/>
              </a:rPr>
              <a:t>player</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hits</a:t>
            </a:r>
            <a:r>
              <a:rPr lang="pl-PL" sz="1800" dirty="0">
                <a:solidFill>
                  <a:schemeClr val="dk1"/>
                </a:solidFill>
                <a:latin typeface="Calibri"/>
                <a:ea typeface="Calibri"/>
                <a:cs typeface="Calibri"/>
                <a:sym typeface="Calibri"/>
              </a:rPr>
              <a:t> and the sum of </a:t>
            </a:r>
            <a:r>
              <a:rPr lang="pl-PL" sz="1800" dirty="0" err="1">
                <a:solidFill>
                  <a:schemeClr val="dk1"/>
                </a:solidFill>
                <a:latin typeface="Calibri"/>
                <a:ea typeface="Calibri"/>
                <a:cs typeface="Calibri"/>
                <a:sym typeface="Calibri"/>
              </a:rPr>
              <a:t>hand</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exceeds</a:t>
            </a:r>
            <a:r>
              <a:rPr lang="pl-PL" sz="1800" dirty="0">
                <a:solidFill>
                  <a:schemeClr val="dk1"/>
                </a:solidFill>
                <a:latin typeface="Calibri"/>
                <a:ea typeface="Calibri"/>
                <a:cs typeface="Calibri"/>
                <a:sym typeface="Calibri"/>
              </a:rPr>
              <a:t> 21.</a:t>
            </a:r>
          </a:p>
          <a:p>
            <a:pPr marL="295275" marR="0" lvl="0" indent="280988" algn="l" rtl="0">
              <a:lnSpc>
                <a:spcPct val="150000"/>
              </a:lnSpc>
              <a:spcBef>
                <a:spcPts val="0"/>
              </a:spcBef>
              <a:spcAft>
                <a:spcPts val="0"/>
              </a:spcAft>
              <a:buClr>
                <a:schemeClr val="dk1"/>
              </a:buClr>
              <a:buSzPts val="1800"/>
              <a:buFont typeface="Wingdings" pitchFamily="2" charset="2"/>
              <a:buChar char="§"/>
            </a:pPr>
            <a:r>
              <a:rPr lang="pl-PL" sz="1800" dirty="0">
                <a:solidFill>
                  <a:schemeClr val="dk1"/>
                </a:solidFill>
                <a:latin typeface="Calibri"/>
                <a:ea typeface="Calibri"/>
                <a:cs typeface="Calibri"/>
                <a:sym typeface="Calibri"/>
              </a:rPr>
              <a:t>The </a:t>
            </a:r>
            <a:r>
              <a:rPr lang="pl-PL" sz="1800" dirty="0" err="1">
                <a:solidFill>
                  <a:schemeClr val="dk1"/>
                </a:solidFill>
                <a:latin typeface="Calibri"/>
                <a:ea typeface="Calibri"/>
                <a:cs typeface="Calibri"/>
                <a:sym typeface="Calibri"/>
              </a:rPr>
              <a:t>player</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sticks</a:t>
            </a:r>
            <a:r>
              <a:rPr lang="pl-PL" sz="1800" dirty="0">
                <a:solidFill>
                  <a:schemeClr val="dk1"/>
                </a:solidFill>
                <a:latin typeface="Calibri"/>
                <a:ea typeface="Calibri"/>
                <a:cs typeface="Calibri"/>
                <a:sym typeface="Calibri"/>
              </a:rPr>
              <a:t>.</a:t>
            </a:r>
          </a:p>
          <a:p>
            <a:pPr marL="295275" marR="0" lvl="0" indent="280988" algn="l" rtl="0">
              <a:lnSpc>
                <a:spcPct val="150000"/>
              </a:lnSpc>
              <a:spcBef>
                <a:spcPts val="0"/>
              </a:spcBef>
              <a:spcAft>
                <a:spcPts val="0"/>
              </a:spcAft>
              <a:buClr>
                <a:schemeClr val="dk1"/>
              </a:buClr>
              <a:buSzPts val="1800"/>
              <a:buFont typeface="Wingdings" pitchFamily="2" charset="2"/>
              <a:buChar char="§"/>
            </a:pPr>
            <a:r>
              <a:rPr lang="pl-PL" sz="1800" dirty="0" err="1">
                <a:solidFill>
                  <a:schemeClr val="dk1"/>
                </a:solidFill>
                <a:latin typeface="Calibri"/>
                <a:ea typeface="Calibri"/>
                <a:cs typeface="Calibri"/>
                <a:sym typeface="Calibri"/>
              </a:rPr>
              <a:t>An</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ace</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will</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always</a:t>
            </a:r>
            <a:r>
              <a:rPr lang="pl-PL" sz="1800" dirty="0">
                <a:solidFill>
                  <a:schemeClr val="dk1"/>
                </a:solidFill>
                <a:latin typeface="Calibri"/>
                <a:ea typeface="Calibri"/>
                <a:cs typeface="Calibri"/>
                <a:sym typeface="Calibri"/>
              </a:rPr>
              <a:t> be </a:t>
            </a:r>
            <a:r>
              <a:rPr lang="pl-PL" sz="1800" dirty="0" err="1">
                <a:solidFill>
                  <a:schemeClr val="dk1"/>
                </a:solidFill>
                <a:latin typeface="Calibri"/>
                <a:ea typeface="Calibri"/>
                <a:cs typeface="Calibri"/>
                <a:sym typeface="Calibri"/>
              </a:rPr>
              <a:t>counted</a:t>
            </a:r>
            <a:r>
              <a:rPr lang="pl-PL" sz="1800" dirty="0">
                <a:solidFill>
                  <a:schemeClr val="dk1"/>
                </a:solidFill>
                <a:latin typeface="Calibri"/>
                <a:ea typeface="Calibri"/>
                <a:cs typeface="Calibri"/>
                <a:sym typeface="Calibri"/>
              </a:rPr>
              <a:t> as </a:t>
            </a:r>
            <a:r>
              <a:rPr lang="pl-PL" sz="1800" dirty="0" err="1">
                <a:solidFill>
                  <a:schemeClr val="dk1"/>
                </a:solidFill>
                <a:latin typeface="Calibri"/>
                <a:ea typeface="Calibri"/>
                <a:cs typeface="Calibri"/>
                <a:sym typeface="Calibri"/>
              </a:rPr>
              <a:t>usable</a:t>
            </a:r>
            <a:r>
              <a:rPr lang="pl-PL" sz="1800" dirty="0">
                <a:solidFill>
                  <a:schemeClr val="dk1"/>
                </a:solidFill>
                <a:latin typeface="Calibri"/>
                <a:ea typeface="Calibri"/>
                <a:cs typeface="Calibri"/>
                <a:sym typeface="Calibri"/>
              </a:rPr>
              <a:t> (11) </a:t>
            </a:r>
            <a:r>
              <a:rPr lang="pl-PL" sz="1800" dirty="0" err="1">
                <a:solidFill>
                  <a:schemeClr val="dk1"/>
                </a:solidFill>
                <a:latin typeface="Calibri"/>
                <a:ea typeface="Calibri"/>
                <a:cs typeface="Calibri"/>
                <a:sym typeface="Calibri"/>
              </a:rPr>
              <a:t>unless</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it</a:t>
            </a:r>
            <a:r>
              <a:rPr lang="pl-PL" sz="1800" dirty="0">
                <a:solidFill>
                  <a:schemeClr val="dk1"/>
                </a:solidFill>
                <a:latin typeface="Calibri"/>
                <a:ea typeface="Calibri"/>
                <a:cs typeface="Calibri"/>
                <a:sym typeface="Calibri"/>
              </a:rPr>
              <a:t> </a:t>
            </a:r>
            <a:r>
              <a:rPr lang="pl-PL" sz="1800" dirty="0" err="1">
                <a:solidFill>
                  <a:schemeClr val="dk1"/>
                </a:solidFill>
                <a:latin typeface="Calibri"/>
                <a:ea typeface="Calibri"/>
                <a:cs typeface="Calibri"/>
                <a:sym typeface="Calibri"/>
              </a:rPr>
              <a:t>busts</a:t>
            </a:r>
            <a:endParaRPr lang="pl-PL" sz="1800" dirty="0">
              <a:solidFill>
                <a:schemeClr val="dk1"/>
              </a:solidFill>
              <a:latin typeface="Calibri"/>
              <a:ea typeface="Calibri"/>
              <a:cs typeface="Calibri"/>
              <a:sym typeface="Calibri"/>
            </a:endParaRPr>
          </a:p>
          <a:p>
            <a:pPr marL="295275" marR="0" lvl="0" indent="280988" algn="l" rtl="0">
              <a:lnSpc>
                <a:spcPct val="150000"/>
              </a:lnSpc>
              <a:spcBef>
                <a:spcPts val="0"/>
              </a:spcBef>
              <a:spcAft>
                <a:spcPts val="0"/>
              </a:spcAft>
              <a:buClr>
                <a:schemeClr val="dk1"/>
              </a:buClr>
              <a:buSzPts val="1800"/>
            </a:pPr>
            <a:r>
              <a:rPr lang="pl-PL" sz="1800" dirty="0">
                <a:solidFill>
                  <a:schemeClr val="dk1"/>
                </a:solidFill>
                <a:latin typeface="Calibri"/>
                <a:ea typeface="Calibri"/>
                <a:cs typeface="Calibri"/>
                <a:sym typeface="Calibri"/>
              </a:rPr>
              <a:t>the </a:t>
            </a:r>
            <a:r>
              <a:rPr lang="pl-PL" sz="1800" dirty="0" err="1">
                <a:solidFill>
                  <a:schemeClr val="dk1"/>
                </a:solidFill>
                <a:latin typeface="Calibri"/>
                <a:ea typeface="Calibri"/>
                <a:cs typeface="Calibri"/>
                <a:sym typeface="Calibri"/>
              </a:rPr>
              <a:t>player</a:t>
            </a:r>
            <a:r>
              <a:rPr lang="pl-PL" sz="1800" dirty="0">
                <a:solidFill>
                  <a:schemeClr val="dk1"/>
                </a:solidFill>
                <a:latin typeface="Calibri"/>
                <a:ea typeface="Calibri"/>
                <a:cs typeface="Calibri"/>
                <a:sym typeface="Calibri"/>
              </a:rPr>
              <a:t>.</a:t>
            </a:r>
          </a:p>
        </p:txBody>
      </p:sp>
    </p:spTree>
    <p:extLst>
      <p:ext uri="{BB962C8B-B14F-4D97-AF65-F5344CB8AC3E}">
        <p14:creationId xmlns:p14="http://schemas.microsoft.com/office/powerpoint/2010/main" val="876684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253AFFAB-CBDB-8CC7-B800-B9E7FE52E4E3}"/>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7F060E44-A9D6-CF21-C8D2-50E3CCEED47F}"/>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12A02EEB-D428-66AF-F3D1-0D4FB6FA3AEE}"/>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AA49B4E4-CBE6-D274-6617-9DF507A5F3D5}"/>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D20B9359-08F8-1CBB-443F-FECE31991760}"/>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C9807A49-57F2-E15E-7D63-84EED91D1B04}"/>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AAD74816-23AF-C8C9-77EB-15294C1BF8DE}"/>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6</a:t>
            </a:r>
            <a:endParaRPr dirty="0"/>
          </a:p>
        </p:txBody>
      </p:sp>
      <p:cxnSp>
        <p:nvCxnSpPr>
          <p:cNvPr id="192" name="Google Shape;192;p3">
            <a:extLst>
              <a:ext uri="{FF2B5EF4-FFF2-40B4-BE49-F238E27FC236}">
                <a16:creationId xmlns:a16="http://schemas.microsoft.com/office/drawing/2014/main" id="{67701D07-94AC-B445-66E0-4F50D72C50F5}"/>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C4DCE686-5C1C-BD06-46BE-407101130288}"/>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latin typeface="Arial"/>
                <a:ea typeface="Arial"/>
                <a:cs typeface="Arial"/>
                <a:sym typeface="Arial"/>
              </a:rPr>
              <a:t>Training setup</a:t>
            </a:r>
            <a:endParaRPr dirty="0"/>
          </a:p>
        </p:txBody>
      </p:sp>
      <p:sp>
        <p:nvSpPr>
          <p:cNvPr id="6" name="Google Shape;210;p4">
            <a:extLst>
              <a:ext uri="{FF2B5EF4-FFF2-40B4-BE49-F238E27FC236}">
                <a16:creationId xmlns:a16="http://schemas.microsoft.com/office/drawing/2014/main" id="{CF1D94DA-0D32-FEAF-4384-1DE2D26AD6C5}"/>
              </a:ext>
            </a:extLst>
          </p:cNvPr>
          <p:cNvSpPr txBox="1"/>
          <p:nvPr/>
        </p:nvSpPr>
        <p:spPr>
          <a:xfrm>
            <a:off x="1583474" y="1492173"/>
            <a:ext cx="6784670" cy="4154943"/>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We trained two different RL families on the same Blackjack environment to compare learning dynamics under identical rules.</a:t>
            </a:r>
          </a:p>
          <a:p>
            <a:pPr>
              <a:lnSpc>
                <a:spcPct val="150000"/>
              </a:lnSpc>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err="1">
                <a:latin typeface="Calibri" panose="020F0502020204030204" pitchFamily="34" charset="0"/>
                <a:cs typeface="Calibri" panose="020F0502020204030204" pitchFamily="34" charset="0"/>
              </a:rPr>
              <a:t>DoubleQ</a:t>
            </a:r>
            <a:r>
              <a:rPr lang="en-US" sz="1600" dirty="0">
                <a:latin typeface="Calibri" panose="020F0502020204030204" pitchFamily="34" charset="0"/>
                <a:cs typeface="Calibri" panose="020F0502020204030204" pitchFamily="34" charset="0"/>
              </a:rPr>
              <a:t>: tabular TD control with epsilon‑greedy exploration and two Q‑tables to reduce overestimation bias.</a:t>
            </a:r>
          </a:p>
          <a:p>
            <a:pPr>
              <a:lnSpc>
                <a:spcPct val="150000"/>
              </a:lnSpc>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A2C‑GAE: neural actor‑critic trained from rollouts; uses value estimates and advantages for stable policy updates.</a:t>
            </a:r>
          </a:p>
          <a:p>
            <a:pPr>
              <a:lnSpc>
                <a:spcPct val="150000"/>
              </a:lnSpc>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Reward shaping is applied only during training; evaluation always uses the true environment reward.</a:t>
            </a:r>
          </a:p>
        </p:txBody>
      </p:sp>
    </p:spTree>
    <p:extLst>
      <p:ext uri="{BB962C8B-B14F-4D97-AF65-F5344CB8AC3E}">
        <p14:creationId xmlns:p14="http://schemas.microsoft.com/office/powerpoint/2010/main" val="2331119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8DC883EC-1699-F847-5246-1A2E68A2185D}"/>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A40FECE1-3CE5-0BBC-47EA-7F6CEAE61443}"/>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140599D7-F3D1-6AE4-0742-7D43407ABA3D}"/>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CA850FB6-8912-BFD3-701E-BD09BAA545E8}"/>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18C176A3-42DC-CEF0-5278-2C21636530B7}"/>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77D47AFD-DB4D-A687-6882-B97AB78B71CF}"/>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93582D27-CB35-09B3-D284-77FBD6C43853}"/>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7</a:t>
            </a:r>
            <a:endParaRPr dirty="0"/>
          </a:p>
        </p:txBody>
      </p:sp>
      <p:cxnSp>
        <p:nvCxnSpPr>
          <p:cNvPr id="192" name="Google Shape;192;p3">
            <a:extLst>
              <a:ext uri="{FF2B5EF4-FFF2-40B4-BE49-F238E27FC236}">
                <a16:creationId xmlns:a16="http://schemas.microsoft.com/office/drawing/2014/main" id="{B6294452-6323-6E6C-E3BE-E5AF5C49B75C}"/>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DF6938DB-1B4B-963D-68C9-08301F4E3E44}"/>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latin typeface="Arial"/>
                <a:ea typeface="Arial"/>
                <a:cs typeface="Arial"/>
                <a:sym typeface="Arial"/>
              </a:rPr>
              <a:t>Training </a:t>
            </a:r>
            <a:r>
              <a:rPr lang="pl-PL" sz="2400" b="1" dirty="0" err="1">
                <a:solidFill>
                  <a:schemeClr val="dk1"/>
                </a:solidFill>
                <a:latin typeface="Arial"/>
                <a:ea typeface="Arial"/>
                <a:cs typeface="Arial"/>
                <a:sym typeface="Arial"/>
              </a:rPr>
              <a:t>budget</a:t>
            </a:r>
            <a:r>
              <a:rPr lang="pl-PL" sz="2400" b="1" dirty="0">
                <a:solidFill>
                  <a:schemeClr val="dk1"/>
                </a:solidFill>
                <a:latin typeface="Arial"/>
                <a:ea typeface="Arial"/>
                <a:cs typeface="Arial"/>
                <a:sym typeface="Arial"/>
              </a:rPr>
              <a:t> &amp; </a:t>
            </a:r>
            <a:r>
              <a:rPr lang="pl-PL" sz="2400" b="1" dirty="0" err="1">
                <a:solidFill>
                  <a:schemeClr val="dk1"/>
                </a:solidFill>
                <a:latin typeface="Arial"/>
                <a:ea typeface="Arial"/>
                <a:cs typeface="Arial"/>
                <a:sym typeface="Arial"/>
              </a:rPr>
              <a:t>schedule</a:t>
            </a:r>
            <a:endParaRPr dirty="0"/>
          </a:p>
        </p:txBody>
      </p:sp>
      <p:sp>
        <p:nvSpPr>
          <p:cNvPr id="6" name="Google Shape;210;p4">
            <a:extLst>
              <a:ext uri="{FF2B5EF4-FFF2-40B4-BE49-F238E27FC236}">
                <a16:creationId xmlns:a16="http://schemas.microsoft.com/office/drawing/2014/main" id="{0658FD77-5284-500B-CB28-67ABD31251DE}"/>
              </a:ext>
            </a:extLst>
          </p:cNvPr>
          <p:cNvSpPr txBox="1"/>
          <p:nvPr/>
        </p:nvSpPr>
        <p:spPr>
          <a:xfrm>
            <a:off x="1583474" y="1598843"/>
            <a:ext cx="6784670" cy="4154943"/>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600" dirty="0" err="1">
                <a:latin typeface="Calibri" panose="020F0502020204030204" pitchFamily="34" charset="0"/>
                <a:cs typeface="Calibri" panose="020F0502020204030204" pitchFamily="34" charset="0"/>
              </a:rPr>
              <a:t>DoubleQ</a:t>
            </a:r>
            <a:r>
              <a:rPr lang="en-US" sz="1600" dirty="0">
                <a:latin typeface="Calibri" panose="020F0502020204030204" pitchFamily="34" charset="0"/>
                <a:cs typeface="Calibri" panose="020F0502020204030204" pitchFamily="34" charset="0"/>
              </a:rPr>
              <a:t> trained for 500,000 episodes with </a:t>
            </a:r>
            <a:r>
              <a:rPr lang="en-US" sz="1600" b="1" dirty="0">
                <a:latin typeface="Calibri" panose="020F0502020204030204" pitchFamily="34" charset="0"/>
                <a:cs typeface="Calibri" panose="020F0502020204030204" pitchFamily="34" charset="0"/>
              </a:rPr>
              <a:t>linear epsilon decay over 50k episodes</a:t>
            </a:r>
            <a:r>
              <a:rPr lang="en-US" sz="1600" dirty="0">
                <a:latin typeface="Calibri" panose="020F0502020204030204" pitchFamily="34" charset="0"/>
                <a:cs typeface="Calibri" panose="020F0502020204030204" pitchFamily="34" charset="0"/>
              </a:rPr>
              <a:t> and periodic evaluation every 25k episodes.</a:t>
            </a:r>
          </a:p>
          <a:p>
            <a:pPr>
              <a:lnSpc>
                <a:spcPct val="150000"/>
              </a:lnSpc>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A2C trained for 500,000 environment steps with rollouts of 256 steps and </a:t>
            </a:r>
            <a:r>
              <a:rPr lang="en-US" sz="1600" b="1" dirty="0">
                <a:latin typeface="Calibri" panose="020F0502020204030204" pitchFamily="34" charset="0"/>
                <a:cs typeface="Calibri" panose="020F0502020204030204" pitchFamily="34" charset="0"/>
              </a:rPr>
              <a:t>one policy update per rollout</a:t>
            </a:r>
            <a:r>
              <a:rPr lang="en-US" sz="1600" dirty="0">
                <a:latin typeface="Calibri" panose="020F0502020204030204" pitchFamily="34" charset="0"/>
                <a:cs typeface="Calibri" panose="020F0502020204030204" pitchFamily="34" charset="0"/>
              </a:rPr>
              <a:t>.</a:t>
            </a:r>
          </a:p>
          <a:p>
            <a:pPr marL="285750" indent="-285750">
              <a:lnSpc>
                <a:spcPct val="150000"/>
              </a:lnSpc>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Evaluation cadence: </a:t>
            </a:r>
            <a:r>
              <a:rPr lang="en-US" sz="1600" dirty="0" err="1">
                <a:latin typeface="Calibri" panose="020F0502020204030204" pitchFamily="34" charset="0"/>
                <a:cs typeface="Calibri" panose="020F0502020204030204" pitchFamily="34" charset="0"/>
              </a:rPr>
              <a:t>DoubleQ</a:t>
            </a:r>
            <a:r>
              <a:rPr lang="en-US" sz="1600" dirty="0">
                <a:latin typeface="Calibri" panose="020F0502020204030204" pitchFamily="34" charset="0"/>
                <a:cs typeface="Calibri" panose="020F0502020204030204" pitchFamily="34" charset="0"/>
              </a:rPr>
              <a:t> every 25k episodes; A2C every 10 updates (</a:t>
            </a:r>
            <a:r>
              <a:rPr lang="en-US" sz="1600" b="1" dirty="0">
                <a:latin typeface="Calibri" panose="020F0502020204030204" pitchFamily="34" charset="0"/>
                <a:cs typeface="Calibri" panose="020F0502020204030204" pitchFamily="34" charset="0"/>
              </a:rPr>
              <a:t>~every 2,560 steps</a:t>
            </a:r>
            <a:r>
              <a:rPr lang="en-US" sz="1600" dirty="0">
                <a:latin typeface="Calibri" panose="020F0502020204030204" pitchFamily="34" charset="0"/>
                <a:cs typeface="Calibri" panose="020F0502020204030204" pitchFamily="34" charset="0"/>
              </a:rPr>
              <a:t>).</a:t>
            </a:r>
          </a:p>
          <a:p>
            <a:pPr marL="285750" indent="-285750">
              <a:lnSpc>
                <a:spcPct val="150000"/>
              </a:lnSpc>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This keeps compute comparable while respecting each algorithm’s natural unit (episodes vs steps).</a:t>
            </a:r>
          </a:p>
        </p:txBody>
      </p:sp>
    </p:spTree>
    <p:extLst>
      <p:ext uri="{BB962C8B-B14F-4D97-AF65-F5344CB8AC3E}">
        <p14:creationId xmlns:p14="http://schemas.microsoft.com/office/powerpoint/2010/main" val="1082699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1EEF0DF9-58BB-446E-4105-D84C409EB97D}"/>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58984D3F-6AB2-2C69-AE22-37F41A069C4A}"/>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C011B392-6BFF-78DD-DA75-81108E749E66}"/>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B05D0FE8-D45F-2D44-074C-4589EFDC5C7D}"/>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3643FAEC-1767-D4AF-EB3E-64652AD887F8}"/>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BD2B85B9-BA93-8575-575F-2C1A26AAA0E1}"/>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A1166B80-6D28-649C-3038-252D6308C22B}"/>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8</a:t>
            </a:r>
            <a:endParaRPr dirty="0"/>
          </a:p>
        </p:txBody>
      </p:sp>
      <p:cxnSp>
        <p:nvCxnSpPr>
          <p:cNvPr id="192" name="Google Shape;192;p3">
            <a:extLst>
              <a:ext uri="{FF2B5EF4-FFF2-40B4-BE49-F238E27FC236}">
                <a16:creationId xmlns:a16="http://schemas.microsoft.com/office/drawing/2014/main" id="{B3136AE9-E526-3EBE-212B-B5FE96037A0E}"/>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2459DD5C-1B16-0CDA-8C3B-C721A33F577C}"/>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Model </a:t>
            </a:r>
            <a:r>
              <a:rPr lang="pl-PL" sz="2400" b="1" dirty="0" err="1">
                <a:solidFill>
                  <a:schemeClr val="dk1"/>
                </a:solidFill>
              </a:rPr>
              <a:t>size</a:t>
            </a:r>
            <a:r>
              <a:rPr lang="pl-PL" sz="2400" b="1" dirty="0">
                <a:solidFill>
                  <a:schemeClr val="dk1"/>
                </a:solidFill>
              </a:rPr>
              <a:t> / </a:t>
            </a:r>
            <a:r>
              <a:rPr lang="pl-PL" sz="2400" b="1" dirty="0" err="1">
                <a:solidFill>
                  <a:schemeClr val="dk1"/>
                </a:solidFill>
              </a:rPr>
              <a:t>Parameters</a:t>
            </a:r>
            <a:endParaRPr lang="pl-PL" sz="2400" b="1" dirty="0">
              <a:solidFill>
                <a:schemeClr val="dk1"/>
              </a:solidFill>
            </a:endParaRPr>
          </a:p>
        </p:txBody>
      </p:sp>
      <p:sp>
        <p:nvSpPr>
          <p:cNvPr id="6" name="Google Shape;210;p4">
            <a:extLst>
              <a:ext uri="{FF2B5EF4-FFF2-40B4-BE49-F238E27FC236}">
                <a16:creationId xmlns:a16="http://schemas.microsoft.com/office/drawing/2014/main" id="{2CF8152B-B114-28EA-1BBD-EEBF837974DC}"/>
              </a:ext>
            </a:extLst>
          </p:cNvPr>
          <p:cNvSpPr txBox="1"/>
          <p:nvPr/>
        </p:nvSpPr>
        <p:spPr>
          <a:xfrm>
            <a:off x="1583474" y="1314363"/>
            <a:ext cx="6784670" cy="4154943"/>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A2C network (</a:t>
            </a:r>
            <a:r>
              <a:rPr lang="en-US" sz="1600" dirty="0" err="1">
                <a:latin typeface="Calibri" panose="020F0502020204030204" pitchFamily="34" charset="0"/>
                <a:cs typeface="Calibri" panose="020F0502020204030204" pitchFamily="34" charset="0"/>
              </a:rPr>
              <a:t>obs_dim</a:t>
            </a:r>
            <a:r>
              <a:rPr lang="en-US" sz="1600" dirty="0">
                <a:latin typeface="Calibri" panose="020F0502020204030204" pitchFamily="34" charset="0"/>
                <a:cs typeface="Calibri" panose="020F0502020204030204" pitchFamily="34" charset="0"/>
              </a:rPr>
              <a:t>=43, hidden=64×64, actions=2) has ~</a:t>
            </a:r>
            <a:r>
              <a:rPr lang="en-US" sz="1600" b="1" dirty="0">
                <a:latin typeface="Calibri" panose="020F0502020204030204" pitchFamily="34" charset="0"/>
                <a:cs typeface="Calibri" panose="020F0502020204030204" pitchFamily="34" charset="0"/>
              </a:rPr>
              <a:t>7,171 trainable parameters.</a:t>
            </a:r>
          </a:p>
          <a:p>
            <a:pPr>
              <a:lnSpc>
                <a:spcPct val="150000"/>
              </a:lnSpc>
            </a:pPr>
            <a:endParaRPr lang="en-US" sz="1600" b="1"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Architecture: 2 shared hidden layers + separate policy and value heads.</a:t>
            </a:r>
          </a:p>
          <a:p>
            <a:pPr>
              <a:lnSpc>
                <a:spcPct val="150000"/>
              </a:lnSpc>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err="1">
                <a:latin typeface="Calibri" panose="020F0502020204030204" pitchFamily="34" charset="0"/>
                <a:cs typeface="Calibri" panose="020F0502020204030204" pitchFamily="34" charset="0"/>
              </a:rPr>
              <a:t>DoubleQ</a:t>
            </a:r>
            <a:r>
              <a:rPr lang="en-US" sz="1600" dirty="0">
                <a:latin typeface="Calibri" panose="020F0502020204030204" pitchFamily="34" charset="0"/>
                <a:cs typeface="Calibri" panose="020F0502020204030204" pitchFamily="34" charset="0"/>
              </a:rPr>
              <a:t> is tabular: up to </a:t>
            </a:r>
            <a:r>
              <a:rPr lang="en-US" sz="1600" b="1" dirty="0">
                <a:latin typeface="Calibri" panose="020F0502020204030204" pitchFamily="34" charset="0"/>
                <a:cs typeface="Calibri" panose="020F0502020204030204" pitchFamily="34" charset="0"/>
              </a:rPr>
              <a:t>~2,560 Q‑values</a:t>
            </a:r>
            <a:r>
              <a:rPr lang="en-US" sz="1600" dirty="0">
                <a:latin typeface="Calibri" panose="020F0502020204030204" pitchFamily="34" charset="0"/>
                <a:cs typeface="Calibri" panose="020F0502020204030204" pitchFamily="34" charset="0"/>
              </a:rPr>
              <a:t> (640 states × 2 actions × 2 tables), though only visited states are stored.</a:t>
            </a:r>
          </a:p>
          <a:p>
            <a:pPr>
              <a:lnSpc>
                <a:spcPct val="150000"/>
              </a:lnSpc>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This highlights the contrast: compact neural function approximation vs exact tabular values.</a:t>
            </a:r>
          </a:p>
          <a:p>
            <a:pPr marL="285750" indent="-285750">
              <a:lnSpc>
                <a:spcPct val="150000"/>
              </a:lnSpc>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551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65D65DDF-D517-ADD5-A7C9-9CA176CF0AFB}"/>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5675D3E8-5995-C6C0-29CF-809A8450D345}"/>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826F92A8-5B72-6AB5-45A7-38035505203C}"/>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83AC69AD-7CF8-7D49-7EDF-E633132BAB7C}"/>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2D8988E1-65D9-EB14-43B3-DB54789468AE}"/>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AE917A13-6CF9-09E5-E350-7F64029BCA46}"/>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494D3E44-C739-D7B4-6546-175E41DF295A}"/>
              </a:ext>
            </a:extLst>
          </p:cNvPr>
          <p:cNvSpPr txBox="1"/>
          <p:nvPr/>
        </p:nvSpPr>
        <p:spPr>
          <a:xfrm>
            <a:off x="576527" y="6042029"/>
            <a:ext cx="2159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9</a:t>
            </a:r>
            <a:endParaRPr dirty="0"/>
          </a:p>
        </p:txBody>
      </p:sp>
      <p:cxnSp>
        <p:nvCxnSpPr>
          <p:cNvPr id="192" name="Google Shape;192;p3">
            <a:extLst>
              <a:ext uri="{FF2B5EF4-FFF2-40B4-BE49-F238E27FC236}">
                <a16:creationId xmlns:a16="http://schemas.microsoft.com/office/drawing/2014/main" id="{33C40589-6F1D-D2B9-16E2-D992C316FEE4}"/>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7B17ADF1-0AD2-399B-4B12-1CD824EAA4DA}"/>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latin typeface="Arial"/>
                <a:ea typeface="Arial"/>
                <a:cs typeface="Arial"/>
                <a:sym typeface="Arial"/>
              </a:rPr>
              <a:t>Evaluation </a:t>
            </a:r>
            <a:r>
              <a:rPr lang="pl-PL" sz="2400" b="1" dirty="0" err="1">
                <a:solidFill>
                  <a:schemeClr val="dk1"/>
                </a:solidFill>
                <a:latin typeface="Arial"/>
                <a:ea typeface="Arial"/>
                <a:cs typeface="Arial"/>
                <a:sym typeface="Arial"/>
              </a:rPr>
              <a:t>Protocol</a:t>
            </a:r>
            <a:endParaRPr dirty="0"/>
          </a:p>
        </p:txBody>
      </p:sp>
      <p:sp>
        <p:nvSpPr>
          <p:cNvPr id="6" name="Google Shape;210;p4">
            <a:extLst>
              <a:ext uri="{FF2B5EF4-FFF2-40B4-BE49-F238E27FC236}">
                <a16:creationId xmlns:a16="http://schemas.microsoft.com/office/drawing/2014/main" id="{8848CFD8-0336-0188-6C33-6FAA0D401080}"/>
              </a:ext>
            </a:extLst>
          </p:cNvPr>
          <p:cNvSpPr txBox="1"/>
          <p:nvPr/>
        </p:nvSpPr>
        <p:spPr>
          <a:xfrm>
            <a:off x="1583474" y="1314363"/>
            <a:ext cx="6784670" cy="4524275"/>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Evaluation uses </a:t>
            </a:r>
            <a:r>
              <a:rPr lang="en-US" sz="1600" b="1" dirty="0">
                <a:latin typeface="Calibri" panose="020F0502020204030204" pitchFamily="34" charset="0"/>
                <a:cs typeface="Calibri" panose="020F0502020204030204" pitchFamily="34" charset="0"/>
              </a:rPr>
              <a:t>true rewards only</a:t>
            </a:r>
            <a:r>
              <a:rPr lang="en-US" sz="1600" dirty="0">
                <a:latin typeface="Calibri" panose="020F0502020204030204" pitchFamily="34" charset="0"/>
                <a:cs typeface="Calibri" panose="020F0502020204030204" pitchFamily="34" charset="0"/>
              </a:rPr>
              <a:t>, regardless of shaping during training.</a:t>
            </a:r>
          </a:p>
          <a:p>
            <a:pPr>
              <a:lnSpc>
                <a:spcPct val="150000"/>
              </a:lnSpc>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Policies are evaluated </a:t>
            </a:r>
            <a:r>
              <a:rPr lang="en-US" sz="1600" b="1" dirty="0">
                <a:latin typeface="Calibri" panose="020F0502020204030204" pitchFamily="34" charset="0"/>
                <a:cs typeface="Calibri" panose="020F0502020204030204" pitchFamily="34" charset="0"/>
              </a:rPr>
              <a:t>greedily</a:t>
            </a:r>
            <a:r>
              <a:rPr lang="en-US" sz="1600" dirty="0">
                <a:latin typeface="Calibri" panose="020F0502020204030204" pitchFamily="34" charset="0"/>
                <a:cs typeface="Calibri" panose="020F0502020204030204" pitchFamily="34" charset="0"/>
              </a:rPr>
              <a:t> (no exploration) to measure final decision quality.</a:t>
            </a:r>
          </a:p>
          <a:p>
            <a:pPr>
              <a:lnSpc>
                <a:spcPct val="150000"/>
              </a:lnSpc>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Each evaluation runs </a:t>
            </a:r>
            <a:r>
              <a:rPr lang="en-US" sz="1600" b="1" dirty="0">
                <a:latin typeface="Calibri" panose="020F0502020204030204" pitchFamily="34" charset="0"/>
                <a:cs typeface="Calibri" panose="020F0502020204030204" pitchFamily="34" charset="0"/>
              </a:rPr>
              <a:t>20,000 episodes</a:t>
            </a:r>
            <a:r>
              <a:rPr lang="en-US" sz="1600" dirty="0">
                <a:latin typeface="Calibri" panose="020F0502020204030204" pitchFamily="34" charset="0"/>
                <a:cs typeface="Calibri" panose="020F0502020204030204" pitchFamily="34" charset="0"/>
              </a:rPr>
              <a:t> for stable statistics.</a:t>
            </a:r>
          </a:p>
          <a:p>
            <a:pPr>
              <a:lnSpc>
                <a:spcPct val="150000"/>
              </a:lnSpc>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Metrics computed: mean return, win/draw/loss rate, and mean episode length.</a:t>
            </a:r>
          </a:p>
          <a:p>
            <a:pPr>
              <a:lnSpc>
                <a:spcPct val="150000"/>
              </a:lnSpc>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Separate evaluation environments are seeded to keep results consistent and unbiased.</a:t>
            </a:r>
          </a:p>
        </p:txBody>
      </p:sp>
    </p:spTree>
    <p:extLst>
      <p:ext uri="{BB962C8B-B14F-4D97-AF65-F5344CB8AC3E}">
        <p14:creationId xmlns:p14="http://schemas.microsoft.com/office/powerpoint/2010/main" val="392803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15609AF5-2EDE-10CA-301F-015FA2D8B018}"/>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9CE4BE1C-C689-5824-5012-F6DBA6A6291E}"/>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24781555-FBFB-7C90-69D6-C02196D6F7A7}"/>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9F417180-7A09-AA74-C36D-877422E0CCA0}"/>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27854B55-1D67-962F-84C3-451B8F28910E}"/>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DC1C10F9-E91A-119F-2912-280800AFDA29}"/>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722ACB84-F89E-4D46-08B5-DEBB6BE53A0E}"/>
              </a:ext>
            </a:extLst>
          </p:cNvPr>
          <p:cNvSpPr txBox="1"/>
          <p:nvPr/>
        </p:nvSpPr>
        <p:spPr>
          <a:xfrm>
            <a:off x="576527" y="6042029"/>
            <a:ext cx="392988"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10</a:t>
            </a:r>
            <a:endParaRPr dirty="0"/>
          </a:p>
        </p:txBody>
      </p:sp>
      <p:cxnSp>
        <p:nvCxnSpPr>
          <p:cNvPr id="192" name="Google Shape;192;p3">
            <a:extLst>
              <a:ext uri="{FF2B5EF4-FFF2-40B4-BE49-F238E27FC236}">
                <a16:creationId xmlns:a16="http://schemas.microsoft.com/office/drawing/2014/main" id="{AF1CCC00-E1D4-64E4-54BD-B6F989135144}"/>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A6FF3793-D811-EC52-A04D-77D235883287}"/>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err="1">
                <a:solidFill>
                  <a:schemeClr val="dk1"/>
                </a:solidFill>
              </a:rPr>
              <a:t>Reward</a:t>
            </a:r>
            <a:r>
              <a:rPr lang="pl-PL" sz="2400" b="1" dirty="0">
                <a:solidFill>
                  <a:schemeClr val="dk1"/>
                </a:solidFill>
              </a:rPr>
              <a:t> </a:t>
            </a:r>
            <a:r>
              <a:rPr lang="pl-PL" sz="2400" b="1" dirty="0" err="1">
                <a:solidFill>
                  <a:schemeClr val="dk1"/>
                </a:solidFill>
              </a:rPr>
              <a:t>shaping</a:t>
            </a:r>
            <a:r>
              <a:rPr lang="pl-PL" sz="2400" b="1" dirty="0">
                <a:solidFill>
                  <a:schemeClr val="dk1"/>
                </a:solidFill>
              </a:rPr>
              <a:t> </a:t>
            </a:r>
            <a:r>
              <a:rPr lang="pl-PL" sz="2400" b="1" dirty="0" err="1">
                <a:solidFill>
                  <a:schemeClr val="dk1"/>
                </a:solidFill>
              </a:rPr>
              <a:t>choices</a:t>
            </a:r>
            <a:endParaRPr dirty="0"/>
          </a:p>
        </p:txBody>
      </p:sp>
      <p:sp>
        <p:nvSpPr>
          <p:cNvPr id="6" name="Google Shape;210;p4">
            <a:extLst>
              <a:ext uri="{FF2B5EF4-FFF2-40B4-BE49-F238E27FC236}">
                <a16:creationId xmlns:a16="http://schemas.microsoft.com/office/drawing/2014/main" id="{47FAB7D2-76BA-245D-6586-E0FC5736CA25}"/>
              </a:ext>
            </a:extLst>
          </p:cNvPr>
          <p:cNvSpPr txBox="1"/>
          <p:nvPr/>
        </p:nvSpPr>
        <p:spPr>
          <a:xfrm>
            <a:off x="1583474" y="1314363"/>
            <a:ext cx="6784670" cy="4154943"/>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600" b="1" dirty="0">
                <a:latin typeface="Calibri" panose="020F0502020204030204" pitchFamily="34" charset="0"/>
                <a:cs typeface="Calibri" panose="020F0502020204030204" pitchFamily="34" charset="0"/>
              </a:rPr>
              <a:t>r0 baseline</a:t>
            </a:r>
            <a:r>
              <a:rPr lang="en-US" sz="1600" dirty="0">
                <a:latin typeface="Calibri" panose="020F0502020204030204" pitchFamily="34" charset="0"/>
                <a:cs typeface="Calibri" panose="020F0502020204030204" pitchFamily="34" charset="0"/>
              </a:rPr>
              <a:t> uses the original Blackjack rewards (+1 win, 0 draw, −1 loss) with no shaping, so it represents the true objective and is the safest choice for fair tuning.</a:t>
            </a:r>
          </a:p>
          <a:p>
            <a:pPr marL="285750" indent="-285750">
              <a:lnSpc>
                <a:spcPct val="150000"/>
              </a:lnSpc>
              <a:buFont typeface="Arial" panose="020B0604020202020204" pitchFamily="34" charset="0"/>
              <a:buChar char="•"/>
            </a:pPr>
            <a:r>
              <a:rPr lang="en-US" sz="1600" b="1" dirty="0">
                <a:latin typeface="Calibri" panose="020F0502020204030204" pitchFamily="34" charset="0"/>
                <a:cs typeface="Calibri" panose="020F0502020204030204" pitchFamily="34" charset="0"/>
              </a:rPr>
              <a:t>r1 step penalty</a:t>
            </a:r>
            <a:r>
              <a:rPr lang="en-US" sz="1600" dirty="0">
                <a:latin typeface="Calibri" panose="020F0502020204030204" pitchFamily="34" charset="0"/>
                <a:cs typeface="Calibri" panose="020F0502020204030204" pitchFamily="34" charset="0"/>
              </a:rPr>
              <a:t> subtracts </a:t>
            </a:r>
            <a:r>
              <a:rPr lang="en-US" sz="1600" b="1" dirty="0">
                <a:latin typeface="Calibri" panose="020F0502020204030204" pitchFamily="34" charset="0"/>
                <a:cs typeface="Calibri" panose="020F0502020204030204" pitchFamily="34" charset="0"/>
              </a:rPr>
              <a:t>0.01</a:t>
            </a:r>
            <a:r>
              <a:rPr lang="en-US" sz="1600" dirty="0">
                <a:latin typeface="Calibri" panose="020F0502020204030204" pitchFamily="34" charset="0"/>
                <a:cs typeface="Calibri" panose="020F0502020204030204" pitchFamily="34" charset="0"/>
              </a:rPr>
              <a:t> on each non‑terminal step, encouraging shorter episodes and more decisive play when the expected benefit of hitting is low.</a:t>
            </a:r>
          </a:p>
          <a:p>
            <a:pPr marL="285750" indent="-285750">
              <a:lnSpc>
                <a:spcPct val="150000"/>
              </a:lnSpc>
              <a:buFont typeface="Arial" panose="020B0604020202020204" pitchFamily="34" charset="0"/>
              <a:buChar char="•"/>
            </a:pPr>
            <a:r>
              <a:rPr lang="en-US" sz="1600" b="1" dirty="0">
                <a:latin typeface="Calibri" panose="020F0502020204030204" pitchFamily="34" charset="0"/>
                <a:cs typeface="Calibri" panose="020F0502020204030204" pitchFamily="34" charset="0"/>
              </a:rPr>
              <a:t>r2 bust penalty</a:t>
            </a:r>
            <a:r>
              <a:rPr lang="en-US" sz="1600" dirty="0">
                <a:latin typeface="Calibri" panose="020F0502020204030204" pitchFamily="34" charset="0"/>
                <a:cs typeface="Calibri" panose="020F0502020204030204" pitchFamily="34" charset="0"/>
              </a:rPr>
              <a:t> subtracts an extra </a:t>
            </a:r>
            <a:r>
              <a:rPr lang="en-US" sz="1600" b="1" dirty="0">
                <a:latin typeface="Calibri" panose="020F0502020204030204" pitchFamily="34" charset="0"/>
                <a:cs typeface="Calibri" panose="020F0502020204030204" pitchFamily="34" charset="0"/>
              </a:rPr>
              <a:t>0.5</a:t>
            </a:r>
            <a:r>
              <a:rPr lang="en-US" sz="1600" dirty="0">
                <a:latin typeface="Calibri" panose="020F0502020204030204" pitchFamily="34" charset="0"/>
                <a:cs typeface="Calibri" panose="020F0502020204030204" pitchFamily="34" charset="0"/>
              </a:rPr>
              <a:t> on terminal losses, explicitly discouraging risky actions that increase bust probability.</a:t>
            </a: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Reward shaping can speed up learning and stabilize early training, but it can also change behavior; therefore, </a:t>
            </a:r>
            <a:r>
              <a:rPr lang="en-US" sz="1600" b="1" dirty="0">
                <a:latin typeface="Calibri" panose="020F0502020204030204" pitchFamily="34" charset="0"/>
                <a:cs typeface="Calibri" panose="020F0502020204030204" pitchFamily="34" charset="0"/>
              </a:rPr>
              <a:t>all reported evaluation metrics use the true reward</a:t>
            </a:r>
            <a:r>
              <a:rPr lang="en-US" sz="1600" dirty="0">
                <a:latin typeface="Calibri" panose="020F0502020204030204" pitchFamily="34" charset="0"/>
                <a:cs typeface="Calibri" panose="020F0502020204030204" pitchFamily="34" charset="0"/>
              </a:rPr>
              <a:t> to keep comparisons unbiased.</a:t>
            </a:r>
          </a:p>
        </p:txBody>
      </p:sp>
    </p:spTree>
    <p:extLst>
      <p:ext uri="{BB962C8B-B14F-4D97-AF65-F5344CB8AC3E}">
        <p14:creationId xmlns:p14="http://schemas.microsoft.com/office/powerpoint/2010/main" val="1798809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B70FA6F5-3713-6414-CADE-9D80FE5ECBBA}"/>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247474A2-9413-2BF0-57E6-4FCC7ED6CBDE}"/>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2AB5B38A-A371-1BA8-4869-80254C6D45E1}"/>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CDE2A7BA-303A-7D0E-09A0-C61B1DB6A3A8}"/>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4E407D17-E0A7-C967-9ABB-5726326F7C7E}"/>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6ED17D4D-9218-04A5-291A-ACA511196B77}"/>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AECE5B6E-7406-FC96-2AE0-F0CD8FEABB96}"/>
              </a:ext>
            </a:extLst>
          </p:cNvPr>
          <p:cNvSpPr txBox="1"/>
          <p:nvPr/>
        </p:nvSpPr>
        <p:spPr>
          <a:xfrm>
            <a:off x="576527" y="6042029"/>
            <a:ext cx="392988"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11</a:t>
            </a:r>
            <a:endParaRPr dirty="0"/>
          </a:p>
        </p:txBody>
      </p:sp>
      <p:cxnSp>
        <p:nvCxnSpPr>
          <p:cNvPr id="192" name="Google Shape;192;p3">
            <a:extLst>
              <a:ext uri="{FF2B5EF4-FFF2-40B4-BE49-F238E27FC236}">
                <a16:creationId xmlns:a16="http://schemas.microsoft.com/office/drawing/2014/main" id="{8EBCCB2C-FA11-5DE3-6610-73A7FD61F129}"/>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65D82539-E75A-B971-E0DC-7E80FA350B4C}"/>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err="1">
                <a:solidFill>
                  <a:schemeClr val="dk1"/>
                </a:solidFill>
                <a:latin typeface="Arial"/>
                <a:ea typeface="Arial"/>
                <a:cs typeface="Arial"/>
                <a:sym typeface="Arial"/>
              </a:rPr>
              <a:t>Hyperparameters</a:t>
            </a:r>
            <a:r>
              <a:rPr lang="pl-PL" sz="2400" b="1" dirty="0">
                <a:solidFill>
                  <a:schemeClr val="dk1"/>
                </a:solidFill>
                <a:latin typeface="Arial"/>
                <a:ea typeface="Arial"/>
                <a:cs typeface="Arial"/>
                <a:sym typeface="Arial"/>
              </a:rPr>
              <a:t> </a:t>
            </a:r>
            <a:r>
              <a:rPr lang="pl-PL" sz="2400" b="1" dirty="0" err="1">
                <a:solidFill>
                  <a:schemeClr val="dk1"/>
                </a:solidFill>
                <a:latin typeface="Arial"/>
                <a:ea typeface="Arial"/>
                <a:cs typeface="Arial"/>
                <a:sym typeface="Arial"/>
              </a:rPr>
              <a:t>tuning</a:t>
            </a:r>
            <a:endParaRPr dirty="0"/>
          </a:p>
        </p:txBody>
      </p:sp>
      <p:sp>
        <p:nvSpPr>
          <p:cNvPr id="6" name="Google Shape;210;p4">
            <a:extLst>
              <a:ext uri="{FF2B5EF4-FFF2-40B4-BE49-F238E27FC236}">
                <a16:creationId xmlns:a16="http://schemas.microsoft.com/office/drawing/2014/main" id="{77E3C349-3F9C-8C4A-D5DE-B8E442A35448}"/>
              </a:ext>
            </a:extLst>
          </p:cNvPr>
          <p:cNvSpPr txBox="1"/>
          <p:nvPr/>
        </p:nvSpPr>
        <p:spPr>
          <a:xfrm>
            <a:off x="1583474" y="1314363"/>
            <a:ext cx="6784670" cy="4154943"/>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Tuning on r0 keeps the objective identical for both algorithms, so the comparison is fair and not biased by shaping.</a:t>
            </a:r>
          </a:p>
          <a:p>
            <a:pPr>
              <a:lnSpc>
                <a:spcPct val="150000"/>
              </a:lnSpc>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Shaped rewards can change learning incentives, so tuning on them risks optimizing for the shaping rather than true performance.</a:t>
            </a:r>
          </a:p>
          <a:p>
            <a:pPr marL="285750" indent="-285750">
              <a:lnSpc>
                <a:spcPct val="150000"/>
              </a:lnSpc>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Compute cost is manageable: tuning every reward mode would multiply runs 3×.</a:t>
            </a:r>
          </a:p>
          <a:p>
            <a:pPr marL="285750" indent="-285750">
              <a:lnSpc>
                <a:spcPct val="150000"/>
              </a:lnSpc>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Final approach: tune on r0, then reuse the best configs for r1/r2 experiments.</a:t>
            </a:r>
          </a:p>
        </p:txBody>
      </p:sp>
    </p:spTree>
    <p:extLst>
      <p:ext uri="{BB962C8B-B14F-4D97-AF65-F5344CB8AC3E}">
        <p14:creationId xmlns:p14="http://schemas.microsoft.com/office/powerpoint/2010/main" val="92489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50DADE3B-FB44-BA3B-95A9-BD74CD21D5AD}"/>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03B52A6A-1A67-AA4B-B0DF-527AE1BBD85C}"/>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BB008BC9-32D8-B0FA-DC3A-C2DAF36BE7F6}"/>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B4416D55-2A57-6E57-3A94-DE565A6C2FF2}"/>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3C5A02A1-9348-1142-5317-0C60AFCC433C}"/>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D4EC5D19-2C9C-5D8F-23B5-BDA11D347A91}"/>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4B03A608-3C6C-2D98-37E2-416C110CF433}"/>
              </a:ext>
            </a:extLst>
          </p:cNvPr>
          <p:cNvSpPr txBox="1"/>
          <p:nvPr/>
        </p:nvSpPr>
        <p:spPr>
          <a:xfrm>
            <a:off x="576527" y="6042029"/>
            <a:ext cx="392986"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12</a:t>
            </a:r>
            <a:endParaRPr dirty="0"/>
          </a:p>
        </p:txBody>
      </p:sp>
      <p:cxnSp>
        <p:nvCxnSpPr>
          <p:cNvPr id="192" name="Google Shape;192;p3">
            <a:extLst>
              <a:ext uri="{FF2B5EF4-FFF2-40B4-BE49-F238E27FC236}">
                <a16:creationId xmlns:a16="http://schemas.microsoft.com/office/drawing/2014/main" id="{03654BF3-2946-AD1D-80FE-F3786B134CFC}"/>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1FAC025B-82F7-8F04-92B5-AE80FC60817E}"/>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err="1">
                <a:solidFill>
                  <a:schemeClr val="dk1"/>
                </a:solidFill>
              </a:rPr>
              <a:t>Hyperparameter</a:t>
            </a:r>
            <a:r>
              <a:rPr lang="pl-PL" sz="2400" b="1" dirty="0">
                <a:solidFill>
                  <a:schemeClr val="dk1"/>
                </a:solidFill>
              </a:rPr>
              <a:t> </a:t>
            </a:r>
            <a:r>
              <a:rPr lang="pl-PL" sz="2400" b="1" dirty="0" err="1">
                <a:solidFill>
                  <a:schemeClr val="dk1"/>
                </a:solidFill>
              </a:rPr>
              <a:t>tuning</a:t>
            </a:r>
            <a:r>
              <a:rPr lang="pl-PL" sz="2400" b="1" dirty="0">
                <a:solidFill>
                  <a:schemeClr val="dk1"/>
                </a:solidFill>
              </a:rPr>
              <a:t> </a:t>
            </a:r>
            <a:r>
              <a:rPr lang="pl-PL" sz="2400" b="1" dirty="0" err="1">
                <a:solidFill>
                  <a:schemeClr val="dk1"/>
                </a:solidFill>
              </a:rPr>
              <a:t>cont’d</a:t>
            </a:r>
            <a:endParaRPr dirty="0"/>
          </a:p>
        </p:txBody>
      </p:sp>
      <p:sp>
        <p:nvSpPr>
          <p:cNvPr id="6" name="Google Shape;210;p4">
            <a:extLst>
              <a:ext uri="{FF2B5EF4-FFF2-40B4-BE49-F238E27FC236}">
                <a16:creationId xmlns:a16="http://schemas.microsoft.com/office/drawing/2014/main" id="{45C5EC24-DE62-994F-F266-3B2F17806CAB}"/>
              </a:ext>
            </a:extLst>
          </p:cNvPr>
          <p:cNvSpPr txBox="1"/>
          <p:nvPr/>
        </p:nvSpPr>
        <p:spPr>
          <a:xfrm>
            <a:off x="1583474" y="1314363"/>
            <a:ext cx="6784670" cy="3785611"/>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Strategy: </a:t>
            </a:r>
            <a:r>
              <a:rPr lang="en-US" sz="1600" dirty="0" err="1">
                <a:latin typeface="Calibri" panose="020F0502020204030204" pitchFamily="34" charset="0"/>
                <a:cs typeface="Calibri" panose="020F0502020204030204" pitchFamily="34" charset="0"/>
              </a:rPr>
              <a:t>DoubleQ</a:t>
            </a:r>
            <a:r>
              <a:rPr lang="en-US" sz="1600" dirty="0">
                <a:latin typeface="Calibri" panose="020F0502020204030204" pitchFamily="34" charset="0"/>
                <a:cs typeface="Calibri" panose="020F0502020204030204" pitchFamily="34" charset="0"/>
              </a:rPr>
              <a:t> uses grid search (small discrete space); A2C uses random search (continuous space + log‑uniform LR).</a:t>
            </a:r>
          </a:p>
          <a:p>
            <a:pPr>
              <a:lnSpc>
                <a:spcPct val="150000"/>
              </a:lnSpc>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err="1">
                <a:latin typeface="Calibri" panose="020F0502020204030204" pitchFamily="34" charset="0"/>
                <a:cs typeface="Calibri" panose="020F0502020204030204" pitchFamily="34" charset="0"/>
              </a:rPr>
              <a:t>DoubleQ</a:t>
            </a:r>
            <a:r>
              <a:rPr lang="en-US" sz="1600" dirty="0">
                <a:latin typeface="Calibri" panose="020F0502020204030204" pitchFamily="34" charset="0"/>
                <a:cs typeface="Calibri" panose="020F0502020204030204" pitchFamily="34" charset="0"/>
              </a:rPr>
              <a:t> grid: alpha {0.05, 0.1, 0.2}, gamma {0.95, 0.99, 1.0}, </a:t>
            </a:r>
            <a:r>
              <a:rPr lang="en-US" sz="1600" dirty="0" err="1">
                <a:latin typeface="Calibri" panose="020F0502020204030204" pitchFamily="34" charset="0"/>
                <a:cs typeface="Calibri" panose="020F0502020204030204" pitchFamily="34" charset="0"/>
              </a:rPr>
              <a:t>eps_end</a:t>
            </a:r>
            <a:r>
              <a:rPr lang="en-US" sz="1600" dirty="0">
                <a:latin typeface="Calibri" panose="020F0502020204030204" pitchFamily="34" charset="0"/>
                <a:cs typeface="Calibri" panose="020F0502020204030204" pitchFamily="34" charset="0"/>
              </a:rPr>
              <a:t> {0.01, 0.05}, </a:t>
            </a:r>
            <a:r>
              <a:rPr lang="en-US" sz="1600" dirty="0" err="1">
                <a:latin typeface="Calibri" panose="020F0502020204030204" pitchFamily="34" charset="0"/>
                <a:cs typeface="Calibri" panose="020F0502020204030204" pitchFamily="34" charset="0"/>
              </a:rPr>
              <a:t>eps_decay</a:t>
            </a:r>
            <a:r>
              <a:rPr lang="en-US" sz="1600" dirty="0">
                <a:latin typeface="Calibri" panose="020F0502020204030204" pitchFamily="34" charset="0"/>
                <a:cs typeface="Calibri" panose="020F0502020204030204" pitchFamily="34" charset="0"/>
              </a:rPr>
              <a:t> {50k, 200k}.</a:t>
            </a:r>
          </a:p>
          <a:p>
            <a:pPr>
              <a:lnSpc>
                <a:spcPct val="150000"/>
              </a:lnSpc>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A2C random: </a:t>
            </a:r>
            <a:r>
              <a:rPr lang="en-US" sz="1600" dirty="0" err="1">
                <a:latin typeface="Calibri" panose="020F0502020204030204" pitchFamily="34" charset="0"/>
                <a:cs typeface="Calibri" panose="020F0502020204030204" pitchFamily="34" charset="0"/>
              </a:rPr>
              <a:t>lr</a:t>
            </a:r>
            <a:r>
              <a:rPr lang="en-US" sz="1600" dirty="0">
                <a:latin typeface="Calibri" panose="020F0502020204030204" pitchFamily="34" charset="0"/>
                <a:cs typeface="Calibri" panose="020F0502020204030204" pitchFamily="34" charset="0"/>
              </a:rPr>
              <a:t> [1e‑4, 3e‑3] log‑uniform, gamma {0.95, 0.99}, </a:t>
            </a:r>
            <a:r>
              <a:rPr lang="en-US" sz="1600" dirty="0" err="1">
                <a:latin typeface="Calibri" panose="020F0502020204030204" pitchFamily="34" charset="0"/>
                <a:cs typeface="Calibri" panose="020F0502020204030204" pitchFamily="34" charset="0"/>
              </a:rPr>
              <a:t>gae_lambda</a:t>
            </a:r>
            <a:r>
              <a:rPr lang="en-US" sz="1600" dirty="0">
                <a:latin typeface="Calibri" panose="020F0502020204030204" pitchFamily="34" charset="0"/>
                <a:cs typeface="Calibri" panose="020F0502020204030204" pitchFamily="34" charset="0"/>
              </a:rPr>
              <a:t> {0.90, 0.95, 0.97}, entropy {0, 0.01, 0.02}, hidden sizes {64, 128}.</a:t>
            </a:r>
          </a:p>
          <a:p>
            <a:pPr>
              <a:lnSpc>
                <a:spcPct val="150000"/>
              </a:lnSpc>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Each config evaluated across multiple seeds to pick the most robust setting.</a:t>
            </a:r>
          </a:p>
        </p:txBody>
      </p:sp>
    </p:spTree>
    <p:extLst>
      <p:ext uri="{BB962C8B-B14F-4D97-AF65-F5344CB8AC3E}">
        <p14:creationId xmlns:p14="http://schemas.microsoft.com/office/powerpoint/2010/main" val="636754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1AC1A458-E528-A513-D277-94E9D1B1CA66}"/>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0C6C2164-A800-1DB2-F77C-DA3429325DD5}"/>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039FF3EB-1980-1449-369C-017CD7DDF553}"/>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518C5F4E-6DAD-B8AC-9AC1-DF49889F9C65}"/>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46205F6E-9974-53CA-8709-E3D421F666C5}"/>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48E8C79C-C332-CB89-3AFD-7C89805D7F17}"/>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EADFFF05-086B-D29B-E6D6-B761B4A38DF0}"/>
              </a:ext>
            </a:extLst>
          </p:cNvPr>
          <p:cNvSpPr txBox="1"/>
          <p:nvPr/>
        </p:nvSpPr>
        <p:spPr>
          <a:xfrm>
            <a:off x="576527" y="6042029"/>
            <a:ext cx="392990"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13</a:t>
            </a:r>
            <a:endParaRPr dirty="0"/>
          </a:p>
        </p:txBody>
      </p:sp>
      <p:cxnSp>
        <p:nvCxnSpPr>
          <p:cNvPr id="192" name="Google Shape;192;p3">
            <a:extLst>
              <a:ext uri="{FF2B5EF4-FFF2-40B4-BE49-F238E27FC236}">
                <a16:creationId xmlns:a16="http://schemas.microsoft.com/office/drawing/2014/main" id="{9E39BA66-0C98-3A9C-49CF-DB061572CF28}"/>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52B853D0-9E5F-6FEC-CC76-98892279E2B2}"/>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err="1">
                <a:solidFill>
                  <a:schemeClr val="dk1"/>
                </a:solidFill>
              </a:rPr>
              <a:t>DoubleQ</a:t>
            </a:r>
            <a:r>
              <a:rPr lang="pl-PL" sz="2400" b="1" dirty="0">
                <a:solidFill>
                  <a:schemeClr val="dk1"/>
                </a:solidFill>
              </a:rPr>
              <a:t> learning </a:t>
            </a:r>
            <a:r>
              <a:rPr lang="pl-PL" sz="2400" b="1" dirty="0" err="1">
                <a:solidFill>
                  <a:schemeClr val="dk1"/>
                </a:solidFill>
              </a:rPr>
              <a:t>curve</a:t>
            </a:r>
            <a:endParaRPr dirty="0"/>
          </a:p>
        </p:txBody>
      </p:sp>
      <p:pic>
        <p:nvPicPr>
          <p:cNvPr id="3" name="Picture 2" descr="A graph showing different colored lines&#10;&#10;AI-generated content may be incorrect.">
            <a:extLst>
              <a:ext uri="{FF2B5EF4-FFF2-40B4-BE49-F238E27FC236}">
                <a16:creationId xmlns:a16="http://schemas.microsoft.com/office/drawing/2014/main" id="{DEAE4794-BCFE-5365-A8B5-77F0DF3EAE12}"/>
              </a:ext>
            </a:extLst>
          </p:cNvPr>
          <p:cNvPicPr>
            <a:picLocks noChangeAspect="1"/>
          </p:cNvPicPr>
          <p:nvPr/>
        </p:nvPicPr>
        <p:blipFill>
          <a:blip r:embed="rId4"/>
          <a:stretch>
            <a:fillRect/>
          </a:stretch>
        </p:blipFill>
        <p:spPr>
          <a:xfrm>
            <a:off x="1583474" y="1368160"/>
            <a:ext cx="7046272" cy="4391687"/>
          </a:xfrm>
          <a:prstGeom prst="rect">
            <a:avLst/>
          </a:prstGeom>
        </p:spPr>
      </p:pic>
    </p:spTree>
    <p:extLst>
      <p:ext uri="{BB962C8B-B14F-4D97-AF65-F5344CB8AC3E}">
        <p14:creationId xmlns:p14="http://schemas.microsoft.com/office/powerpoint/2010/main" val="2651386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C917D12B-925D-5243-9516-5B7EA1F071A3}"/>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80C73DE8-C9F8-C633-2E49-915DAD31E30F}"/>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CFD36C4E-2FC7-83CA-A7D3-6FE2A63E7FD0}"/>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DB608787-1A03-C253-9462-D78D19EE5E5C}"/>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3ACD2004-89E2-FC39-795D-C4104065262C}"/>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AB9A9F94-8D8B-9847-449F-B9A7ED825EB3}"/>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D0DB55BD-C94F-4049-E3BA-CD2F08C5E8B9}"/>
              </a:ext>
            </a:extLst>
          </p:cNvPr>
          <p:cNvSpPr txBox="1"/>
          <p:nvPr/>
        </p:nvSpPr>
        <p:spPr>
          <a:xfrm>
            <a:off x="576527" y="6042029"/>
            <a:ext cx="392984"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14</a:t>
            </a:r>
            <a:endParaRPr dirty="0"/>
          </a:p>
        </p:txBody>
      </p:sp>
      <p:cxnSp>
        <p:nvCxnSpPr>
          <p:cNvPr id="192" name="Google Shape;192;p3">
            <a:extLst>
              <a:ext uri="{FF2B5EF4-FFF2-40B4-BE49-F238E27FC236}">
                <a16:creationId xmlns:a16="http://schemas.microsoft.com/office/drawing/2014/main" id="{84BF18DB-8292-F542-316C-4C2953D83211}"/>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73101FB2-5748-9F00-11B6-7B950EA21DE4}"/>
              </a:ext>
            </a:extLst>
          </p:cNvPr>
          <p:cNvSpPr txBox="1"/>
          <p:nvPr/>
        </p:nvSpPr>
        <p:spPr>
          <a:xfrm>
            <a:off x="1583474" y="548667"/>
            <a:ext cx="6139543" cy="461665"/>
          </a:xfrm>
          <a:prstGeom prst="rect">
            <a:avLst/>
          </a:prstGeom>
          <a:noFill/>
          <a:ln>
            <a:noFill/>
          </a:ln>
        </p:spPr>
        <p:txBody>
          <a:bodyPr spcFirstLastPara="1" wrap="square" lIns="91425" tIns="45700" rIns="91425" bIns="45700" anchor="t" anchorCtr="0">
            <a:spAutoFit/>
          </a:bodyPr>
          <a:lstStyle/>
          <a:p>
            <a:pPr lvl="0"/>
            <a:r>
              <a:rPr lang="pl-PL" sz="2400" b="1" dirty="0">
                <a:solidFill>
                  <a:schemeClr val="dk1"/>
                </a:solidFill>
              </a:rPr>
              <a:t>A2C learning </a:t>
            </a:r>
            <a:r>
              <a:rPr lang="pl-PL" sz="2400" b="1" dirty="0" err="1">
                <a:solidFill>
                  <a:schemeClr val="dk1"/>
                </a:solidFill>
              </a:rPr>
              <a:t>curve</a:t>
            </a:r>
            <a:endParaRPr lang="pl-PL" sz="2400" dirty="0"/>
          </a:p>
        </p:txBody>
      </p:sp>
      <p:pic>
        <p:nvPicPr>
          <p:cNvPr id="3" name="Picture 2" descr="A graph of a graph&#10;&#10;AI-generated content may be incorrect.">
            <a:extLst>
              <a:ext uri="{FF2B5EF4-FFF2-40B4-BE49-F238E27FC236}">
                <a16:creationId xmlns:a16="http://schemas.microsoft.com/office/drawing/2014/main" id="{47D06B68-C8F7-9B51-5BC4-BD1FACBDE8CC}"/>
              </a:ext>
            </a:extLst>
          </p:cNvPr>
          <p:cNvPicPr>
            <a:picLocks noChangeAspect="1"/>
          </p:cNvPicPr>
          <p:nvPr/>
        </p:nvPicPr>
        <p:blipFill>
          <a:blip r:embed="rId4"/>
          <a:stretch>
            <a:fillRect/>
          </a:stretch>
        </p:blipFill>
        <p:spPr>
          <a:xfrm>
            <a:off x="1636758" y="1371079"/>
            <a:ext cx="7045921" cy="4391468"/>
          </a:xfrm>
          <a:prstGeom prst="rect">
            <a:avLst/>
          </a:prstGeom>
        </p:spPr>
      </p:pic>
    </p:spTree>
    <p:extLst>
      <p:ext uri="{BB962C8B-B14F-4D97-AF65-F5344CB8AC3E}">
        <p14:creationId xmlns:p14="http://schemas.microsoft.com/office/powerpoint/2010/main" val="1418116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AC3D02F5-CEF8-05A7-A5E1-25A4C3577393}"/>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DDFC5265-6EA5-9F7B-2FA1-E337A90DAB15}"/>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5BB852BC-CA91-65D2-F627-FEAFAD50D252}"/>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34D26D89-6E73-C394-1963-A015131F46BE}"/>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87892061-E0AE-9BDE-D944-8EA1C8B11C36}"/>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AD143B53-48A3-2547-6A89-0B8EE600C76A}"/>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CDF1DBA2-6C72-B42B-1AEA-93D7C52B3BDB}"/>
              </a:ext>
            </a:extLst>
          </p:cNvPr>
          <p:cNvSpPr txBox="1"/>
          <p:nvPr/>
        </p:nvSpPr>
        <p:spPr>
          <a:xfrm>
            <a:off x="576527" y="6042029"/>
            <a:ext cx="392987"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15</a:t>
            </a:r>
            <a:endParaRPr dirty="0"/>
          </a:p>
        </p:txBody>
      </p:sp>
      <p:cxnSp>
        <p:nvCxnSpPr>
          <p:cNvPr id="192" name="Google Shape;192;p3">
            <a:extLst>
              <a:ext uri="{FF2B5EF4-FFF2-40B4-BE49-F238E27FC236}">
                <a16:creationId xmlns:a16="http://schemas.microsoft.com/office/drawing/2014/main" id="{CFB75C08-EDD6-0786-54E7-0F7ED04140E1}"/>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796C7737-8A11-6342-B895-0C67F7816931}"/>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Best-</a:t>
            </a:r>
            <a:r>
              <a:rPr lang="pl-PL" sz="2400" b="1" dirty="0" err="1">
                <a:solidFill>
                  <a:schemeClr val="dk1"/>
                </a:solidFill>
              </a:rPr>
              <a:t>config</a:t>
            </a:r>
            <a:r>
              <a:rPr lang="pl-PL" sz="2400" b="1" dirty="0">
                <a:solidFill>
                  <a:schemeClr val="dk1"/>
                </a:solidFill>
              </a:rPr>
              <a:t> </a:t>
            </a:r>
            <a:r>
              <a:rPr lang="pl-PL" sz="2400" b="1" dirty="0" err="1">
                <a:solidFill>
                  <a:schemeClr val="dk1"/>
                </a:solidFill>
              </a:rPr>
              <a:t>comparison</a:t>
            </a:r>
            <a:endParaRPr dirty="0"/>
          </a:p>
        </p:txBody>
      </p:sp>
      <p:pic>
        <p:nvPicPr>
          <p:cNvPr id="3" name="Picture 2" descr="A graph showing a number of blue and orange lines&#10;&#10;AI-generated content may be incorrect.">
            <a:extLst>
              <a:ext uri="{FF2B5EF4-FFF2-40B4-BE49-F238E27FC236}">
                <a16:creationId xmlns:a16="http://schemas.microsoft.com/office/drawing/2014/main" id="{7525A8F8-1DFE-9611-174D-E5F5A2D83FD5}"/>
              </a:ext>
            </a:extLst>
          </p:cNvPr>
          <p:cNvPicPr>
            <a:picLocks noChangeAspect="1"/>
          </p:cNvPicPr>
          <p:nvPr/>
        </p:nvPicPr>
        <p:blipFill>
          <a:blip r:embed="rId4"/>
          <a:stretch>
            <a:fillRect/>
          </a:stretch>
        </p:blipFill>
        <p:spPr>
          <a:xfrm>
            <a:off x="1583474" y="1371550"/>
            <a:ext cx="7068669" cy="4405646"/>
          </a:xfrm>
          <a:prstGeom prst="rect">
            <a:avLst/>
          </a:prstGeom>
        </p:spPr>
      </p:pic>
    </p:spTree>
    <p:extLst>
      <p:ext uri="{BB962C8B-B14F-4D97-AF65-F5344CB8AC3E}">
        <p14:creationId xmlns:p14="http://schemas.microsoft.com/office/powerpoint/2010/main" val="3353511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34CF5824-2A8A-C198-EBEA-B86177F10D84}"/>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CAA462AD-55A2-D328-C47C-28789B17A8C4}"/>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EAD6E046-8F49-E21D-C06E-BE83714130DF}"/>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982F474A-7831-6E85-9BA9-A3781983EF3E}"/>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F1333DCA-503D-D956-2D1A-9BF23C6CA1F6}"/>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AD1A6142-AFBA-B729-C25F-72BA5D16819C}"/>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1058D80B-EE7D-F8D1-8A15-E9293C55949B}"/>
              </a:ext>
            </a:extLst>
          </p:cNvPr>
          <p:cNvSpPr txBox="1"/>
          <p:nvPr/>
        </p:nvSpPr>
        <p:spPr>
          <a:xfrm>
            <a:off x="576526" y="6042029"/>
            <a:ext cx="392983"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16</a:t>
            </a:r>
            <a:endParaRPr dirty="0"/>
          </a:p>
        </p:txBody>
      </p:sp>
      <p:cxnSp>
        <p:nvCxnSpPr>
          <p:cNvPr id="192" name="Google Shape;192;p3">
            <a:extLst>
              <a:ext uri="{FF2B5EF4-FFF2-40B4-BE49-F238E27FC236}">
                <a16:creationId xmlns:a16="http://schemas.microsoft.com/office/drawing/2014/main" id="{2F4B253D-B1F3-D373-4DE0-74E7066E90D0}"/>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F6B929F6-C2A0-DDAF-5F06-DB899461B1BE}"/>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err="1">
                <a:solidFill>
                  <a:schemeClr val="dk1"/>
                </a:solidFill>
              </a:rPr>
              <a:t>Results</a:t>
            </a:r>
            <a:r>
              <a:rPr lang="pl-PL" sz="2400" b="1" dirty="0">
                <a:solidFill>
                  <a:schemeClr val="dk1"/>
                </a:solidFill>
              </a:rPr>
              <a:t> </a:t>
            </a:r>
            <a:r>
              <a:rPr lang="pl-PL" sz="2400" b="1" dirty="0" err="1">
                <a:solidFill>
                  <a:schemeClr val="dk1"/>
                </a:solidFill>
              </a:rPr>
              <a:t>summary</a:t>
            </a:r>
            <a:endParaRPr dirty="0"/>
          </a:p>
        </p:txBody>
      </p:sp>
      <p:sp>
        <p:nvSpPr>
          <p:cNvPr id="6" name="Google Shape;210;p4">
            <a:extLst>
              <a:ext uri="{FF2B5EF4-FFF2-40B4-BE49-F238E27FC236}">
                <a16:creationId xmlns:a16="http://schemas.microsoft.com/office/drawing/2014/main" id="{507FA615-6BB1-7C02-B88E-E4069925994E}"/>
              </a:ext>
            </a:extLst>
          </p:cNvPr>
          <p:cNvSpPr txBox="1"/>
          <p:nvPr/>
        </p:nvSpPr>
        <p:spPr>
          <a:xfrm>
            <a:off x="1583474" y="1314363"/>
            <a:ext cx="6784670" cy="4154943"/>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Best overall configuration is </a:t>
            </a:r>
            <a:r>
              <a:rPr lang="en-US" sz="1600" b="1" dirty="0">
                <a:latin typeface="Calibri" panose="020F0502020204030204" pitchFamily="34" charset="0"/>
                <a:cs typeface="Calibri" panose="020F0502020204030204" pitchFamily="34" charset="0"/>
              </a:rPr>
              <a:t>A2C with r1</a:t>
            </a:r>
            <a:r>
              <a:rPr lang="en-US" sz="1600" dirty="0">
                <a:latin typeface="Calibri" panose="020F0502020204030204" pitchFamily="34" charset="0"/>
                <a:cs typeface="Calibri" panose="020F0502020204030204" pitchFamily="34" charset="0"/>
              </a:rPr>
              <a:t>, which achieved </a:t>
            </a:r>
            <a:r>
              <a:rPr lang="en-US" sz="1600" b="1" dirty="0">
                <a:latin typeface="Calibri" panose="020F0502020204030204" pitchFamily="34" charset="0"/>
                <a:cs typeface="Calibri" panose="020F0502020204030204" pitchFamily="34" charset="0"/>
              </a:rPr>
              <a:t>−0.0509 ± 0.0026</a:t>
            </a:r>
            <a:r>
              <a:rPr lang="en-US" sz="1600" dirty="0">
                <a:latin typeface="Calibri" panose="020F0502020204030204" pitchFamily="34" charset="0"/>
                <a:cs typeface="Calibri" panose="020F0502020204030204" pitchFamily="34" charset="0"/>
              </a:rPr>
              <a:t> mean return (n=3).</a:t>
            </a:r>
          </a:p>
          <a:p>
            <a:pPr>
              <a:lnSpc>
                <a:spcPct val="150000"/>
              </a:lnSpc>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Best </a:t>
            </a:r>
            <a:r>
              <a:rPr lang="en-US" sz="1600" dirty="0" err="1">
                <a:latin typeface="Calibri" panose="020F0502020204030204" pitchFamily="34" charset="0"/>
                <a:cs typeface="Calibri" panose="020F0502020204030204" pitchFamily="34" charset="0"/>
              </a:rPr>
              <a:t>DoubleQ</a:t>
            </a:r>
            <a:r>
              <a:rPr lang="en-US" sz="1600" dirty="0">
                <a:latin typeface="Calibri" panose="020F0502020204030204" pitchFamily="34" charset="0"/>
                <a:cs typeface="Calibri" panose="020F0502020204030204" pitchFamily="34" charset="0"/>
              </a:rPr>
              <a:t> configuration is </a:t>
            </a:r>
            <a:r>
              <a:rPr lang="en-US" sz="1600" b="1" dirty="0">
                <a:latin typeface="Calibri" panose="020F0502020204030204" pitchFamily="34" charset="0"/>
                <a:cs typeface="Calibri" panose="020F0502020204030204" pitchFamily="34" charset="0"/>
              </a:rPr>
              <a:t>r1</a:t>
            </a:r>
            <a:r>
              <a:rPr lang="en-US" sz="1600" dirty="0">
                <a:latin typeface="Calibri" panose="020F0502020204030204" pitchFamily="34" charset="0"/>
                <a:cs typeface="Calibri" panose="020F0502020204030204" pitchFamily="34" charset="0"/>
              </a:rPr>
              <a:t>, with </a:t>
            </a:r>
            <a:r>
              <a:rPr lang="en-US" sz="1600" b="1" dirty="0">
                <a:latin typeface="Calibri" panose="020F0502020204030204" pitchFamily="34" charset="0"/>
                <a:cs typeface="Calibri" panose="020F0502020204030204" pitchFamily="34" charset="0"/>
              </a:rPr>
              <a:t>−0.0528 ± 0.0049</a:t>
            </a:r>
            <a:r>
              <a:rPr lang="en-US" sz="1600" dirty="0">
                <a:latin typeface="Calibri" panose="020F0502020204030204" pitchFamily="34" charset="0"/>
                <a:cs typeface="Calibri" panose="020F0502020204030204" pitchFamily="34" charset="0"/>
              </a:rPr>
              <a:t> mean return (n=3).</a:t>
            </a:r>
          </a:p>
          <a:p>
            <a:pPr>
              <a:lnSpc>
                <a:spcPct val="150000"/>
              </a:lnSpc>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The difference is small, but A2C consistently edges out </a:t>
            </a:r>
            <a:r>
              <a:rPr lang="en-US" sz="1600" dirty="0" err="1">
                <a:latin typeface="Calibri" panose="020F0502020204030204" pitchFamily="34" charset="0"/>
                <a:cs typeface="Calibri" panose="020F0502020204030204" pitchFamily="34" charset="0"/>
              </a:rPr>
              <a:t>DoubleQ</a:t>
            </a:r>
            <a:r>
              <a:rPr lang="en-US" sz="1600" dirty="0">
                <a:latin typeface="Calibri" panose="020F0502020204030204" pitchFamily="34" charset="0"/>
                <a:cs typeface="Calibri" panose="020F0502020204030204" pitchFamily="34" charset="0"/>
              </a:rPr>
              <a:t> on average return.</a:t>
            </a:r>
          </a:p>
          <a:p>
            <a:pPr>
              <a:lnSpc>
                <a:spcPct val="150000"/>
              </a:lnSpc>
            </a:pPr>
            <a:endParaRPr lang="en-US" sz="16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600" dirty="0">
                <a:latin typeface="Calibri" panose="020F0502020204030204" pitchFamily="34" charset="0"/>
                <a:cs typeface="Calibri" panose="020F0502020204030204" pitchFamily="34" charset="0"/>
              </a:rPr>
              <a:t>Win rates are also close: </a:t>
            </a:r>
          </a:p>
          <a:p>
            <a:pPr marL="344488" indent="223838">
              <a:lnSpc>
                <a:spcPct val="150000"/>
              </a:lnSpc>
              <a:buFont typeface="Wingdings" pitchFamily="2" charset="2"/>
              <a:buChar char="§"/>
            </a:pPr>
            <a:r>
              <a:rPr lang="en-US" sz="1600" b="1" dirty="0">
                <a:latin typeface="Calibri" panose="020F0502020204030204" pitchFamily="34" charset="0"/>
                <a:cs typeface="Calibri" panose="020F0502020204030204" pitchFamily="34" charset="0"/>
              </a:rPr>
              <a:t>A2C r1 = 0.4276 ± 0.0010</a:t>
            </a:r>
            <a:r>
              <a:rPr lang="en-US" sz="1600" dirty="0">
                <a:latin typeface="Calibri" panose="020F0502020204030204" pitchFamily="34" charset="0"/>
                <a:cs typeface="Calibri" panose="020F0502020204030204" pitchFamily="34" charset="0"/>
              </a:rPr>
              <a:t>,</a:t>
            </a:r>
          </a:p>
          <a:p>
            <a:pPr marL="344488" indent="223838">
              <a:lnSpc>
                <a:spcPct val="150000"/>
              </a:lnSpc>
              <a:buFont typeface="Wingdings" pitchFamily="2" charset="2"/>
              <a:buChar char="§"/>
            </a:pPr>
            <a:r>
              <a:rPr lang="en-US" sz="1600" b="1" dirty="0" err="1">
                <a:latin typeface="Calibri" panose="020F0502020204030204" pitchFamily="34" charset="0"/>
                <a:cs typeface="Calibri" panose="020F0502020204030204" pitchFamily="34" charset="0"/>
              </a:rPr>
              <a:t>DoubleQ</a:t>
            </a:r>
            <a:r>
              <a:rPr lang="en-US" sz="1600" b="1" dirty="0">
                <a:latin typeface="Calibri" panose="020F0502020204030204" pitchFamily="34" charset="0"/>
                <a:cs typeface="Calibri" panose="020F0502020204030204" pitchFamily="34" charset="0"/>
              </a:rPr>
              <a:t> r1 = 0.4263 ± 0.0014</a:t>
            </a:r>
            <a:r>
              <a:rPr lang="en-US" sz="16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1309572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1602ADA0-7959-768C-FED2-148BBB829D16}"/>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E9C9B0DA-D204-66F7-D773-27F4A98029F0}"/>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4CB9D189-745F-D9E3-A748-608DE3A80F88}"/>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4E0964AC-B65D-31B2-7DE0-D2255107A3D2}"/>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6E78B958-1851-B3C0-567B-DD4AC7F0C6B9}"/>
              </a:ext>
            </a:extLst>
          </p:cNvPr>
          <p:cNvPicPr preferRelativeResize="0"/>
          <p:nvPr/>
        </p:nvPicPr>
        <p:blipFill rotWithShape="1">
          <a:blip r:embed="rId5">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92879577-C82E-14FC-640F-AAEE3477D268}"/>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4EA85726-E141-24BF-1AF9-33249B233945}"/>
              </a:ext>
            </a:extLst>
          </p:cNvPr>
          <p:cNvSpPr txBox="1"/>
          <p:nvPr/>
        </p:nvSpPr>
        <p:spPr>
          <a:xfrm>
            <a:off x="576527" y="6042029"/>
            <a:ext cx="392991"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17</a:t>
            </a:r>
            <a:endParaRPr dirty="0"/>
          </a:p>
        </p:txBody>
      </p:sp>
      <p:cxnSp>
        <p:nvCxnSpPr>
          <p:cNvPr id="192" name="Google Shape;192;p3">
            <a:extLst>
              <a:ext uri="{FF2B5EF4-FFF2-40B4-BE49-F238E27FC236}">
                <a16:creationId xmlns:a16="http://schemas.microsoft.com/office/drawing/2014/main" id="{12507B24-7308-382F-DD2D-45DB8C8F3E28}"/>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5709CBB5-777B-D7EE-E44D-05FFC1A396B6}"/>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Demo</a:t>
            </a:r>
            <a:endParaRPr dirty="0"/>
          </a:p>
        </p:txBody>
      </p:sp>
      <p:pic>
        <p:nvPicPr>
          <p:cNvPr id="4" name="Demo-RL">
            <a:hlinkClick r:id="" action="ppaction://media"/>
            <a:extLst>
              <a:ext uri="{FF2B5EF4-FFF2-40B4-BE49-F238E27FC236}">
                <a16:creationId xmlns:a16="http://schemas.microsoft.com/office/drawing/2014/main" id="{BB044D22-48FA-812D-CD6E-067D177FFBC2}"/>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581495" y="1325878"/>
            <a:ext cx="5086510" cy="4478949"/>
          </a:xfrm>
          <a:prstGeom prst="rect">
            <a:avLst/>
          </a:prstGeom>
        </p:spPr>
      </p:pic>
    </p:spTree>
    <p:extLst>
      <p:ext uri="{BB962C8B-B14F-4D97-AF65-F5344CB8AC3E}">
        <p14:creationId xmlns:p14="http://schemas.microsoft.com/office/powerpoint/2010/main" val="1840077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552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4">
          <a:extLst>
            <a:ext uri="{FF2B5EF4-FFF2-40B4-BE49-F238E27FC236}">
              <a16:creationId xmlns:a16="http://schemas.microsoft.com/office/drawing/2014/main" id="{36E8C3CC-9A30-5A9C-D2BE-F05214D42209}"/>
            </a:ext>
          </a:extLst>
        </p:cNvPr>
        <p:cNvGrpSpPr/>
        <p:nvPr/>
      </p:nvGrpSpPr>
      <p:grpSpPr>
        <a:xfrm>
          <a:off x="0" y="0"/>
          <a:ext cx="0" cy="0"/>
          <a:chOff x="0" y="0"/>
          <a:chExt cx="0" cy="0"/>
        </a:xfrm>
      </p:grpSpPr>
      <p:cxnSp>
        <p:nvCxnSpPr>
          <p:cNvPr id="185" name="Google Shape;185;p3">
            <a:extLst>
              <a:ext uri="{FF2B5EF4-FFF2-40B4-BE49-F238E27FC236}">
                <a16:creationId xmlns:a16="http://schemas.microsoft.com/office/drawing/2014/main" id="{EBF4588D-BB1E-9B94-21E6-331F97BD01B2}"/>
              </a:ext>
            </a:extLst>
          </p:cNvPr>
          <p:cNvCxnSpPr/>
          <p:nvPr/>
        </p:nvCxnSpPr>
        <p:spPr>
          <a:xfrm>
            <a:off x="1583474" y="5940000"/>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86" name="Google Shape;186;p3">
            <a:extLst>
              <a:ext uri="{FF2B5EF4-FFF2-40B4-BE49-F238E27FC236}">
                <a16:creationId xmlns:a16="http://schemas.microsoft.com/office/drawing/2014/main" id="{16C89E4C-A2F4-2CDA-E73D-879196B6FA00}"/>
              </a:ext>
            </a:extLst>
          </p:cNvPr>
          <p:cNvSpPr txBox="1"/>
          <p:nvPr/>
        </p:nvSpPr>
        <p:spPr>
          <a:xfrm>
            <a:off x="5404654" y="5952542"/>
            <a:ext cx="3378819" cy="276999"/>
          </a:xfrm>
          <a:prstGeom prst="rect">
            <a:avLst/>
          </a:prstGeom>
          <a:noFill/>
          <a:ln>
            <a:noFill/>
          </a:ln>
        </p:spPr>
        <p:txBody>
          <a:bodyPr spcFirstLastPara="1" wrap="square" lIns="91425" tIns="45700" rIns="91425" bIns="45700" anchor="t" anchorCtr="0">
            <a:spAutoFit/>
          </a:bodyPr>
          <a:lstStyle/>
          <a:p>
            <a:pPr lvl="0" algn="r">
              <a:buSzPts val="1200"/>
            </a:pPr>
            <a:r>
              <a:rPr lang="pl-PL" sz="1200" dirty="0"/>
              <a:t>Piotr Radziszewski, Andrzej </a:t>
            </a:r>
            <a:r>
              <a:rPr lang="pl-PL" sz="1200" dirty="0" err="1"/>
              <a:t>Żernaczuk</a:t>
            </a:r>
            <a:endParaRPr lang="pl-PL" sz="1200" dirty="0"/>
          </a:p>
        </p:txBody>
      </p:sp>
      <p:cxnSp>
        <p:nvCxnSpPr>
          <p:cNvPr id="187" name="Google Shape;187;p3">
            <a:extLst>
              <a:ext uri="{FF2B5EF4-FFF2-40B4-BE49-F238E27FC236}">
                <a16:creationId xmlns:a16="http://schemas.microsoft.com/office/drawing/2014/main" id="{661AEF2F-3FF7-D7DC-5E21-69267F48EB6B}"/>
              </a:ext>
            </a:extLst>
          </p:cNvPr>
          <p:cNvCxnSpPr/>
          <p:nvPr/>
        </p:nvCxnSpPr>
        <p:spPr>
          <a:xfrm>
            <a:off x="1080000" y="288001"/>
            <a:ext cx="0" cy="6300000"/>
          </a:xfrm>
          <a:prstGeom prst="straightConnector1">
            <a:avLst/>
          </a:prstGeom>
          <a:noFill/>
          <a:ln w="9525" cap="flat" cmpd="sng">
            <a:solidFill>
              <a:srgbClr val="C00000"/>
            </a:solidFill>
            <a:prstDash val="solid"/>
            <a:miter lim="800000"/>
            <a:headEnd type="none" w="sm" len="sm"/>
            <a:tailEnd type="none" w="sm" len="sm"/>
          </a:ln>
        </p:spPr>
      </p:cxnSp>
      <p:pic>
        <p:nvPicPr>
          <p:cNvPr id="188" name="Google Shape;188;p3">
            <a:extLst>
              <a:ext uri="{FF2B5EF4-FFF2-40B4-BE49-F238E27FC236}">
                <a16:creationId xmlns:a16="http://schemas.microsoft.com/office/drawing/2014/main" id="{154DA051-0696-1832-B885-01175CF655A8}"/>
              </a:ext>
            </a:extLst>
          </p:cNvPr>
          <p:cNvPicPr preferRelativeResize="0"/>
          <p:nvPr/>
        </p:nvPicPr>
        <p:blipFill rotWithShape="1">
          <a:blip r:embed="rId3">
            <a:alphaModFix/>
          </a:blip>
          <a:srcRect/>
          <a:stretch/>
        </p:blipFill>
        <p:spPr>
          <a:xfrm rot="-5400000">
            <a:off x="-1501574" y="1771573"/>
            <a:ext cx="4193631" cy="1190483"/>
          </a:xfrm>
          <a:prstGeom prst="rect">
            <a:avLst/>
          </a:prstGeom>
          <a:noFill/>
          <a:ln>
            <a:noFill/>
          </a:ln>
        </p:spPr>
      </p:pic>
      <p:sp>
        <p:nvSpPr>
          <p:cNvPr id="190" name="Google Shape;190;p3">
            <a:extLst>
              <a:ext uri="{FF2B5EF4-FFF2-40B4-BE49-F238E27FC236}">
                <a16:creationId xmlns:a16="http://schemas.microsoft.com/office/drawing/2014/main" id="{8C6EC9C3-C8F1-5615-5A86-C3A2E591F29D}"/>
              </a:ext>
            </a:extLst>
          </p:cNvPr>
          <p:cNvSpPr/>
          <p:nvPr/>
        </p:nvSpPr>
        <p:spPr>
          <a:xfrm>
            <a:off x="360527" y="6085541"/>
            <a:ext cx="216000" cy="14400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
            <a:extLst>
              <a:ext uri="{FF2B5EF4-FFF2-40B4-BE49-F238E27FC236}">
                <a16:creationId xmlns:a16="http://schemas.microsoft.com/office/drawing/2014/main" id="{3B955F32-3D39-9FA0-98F1-3479C0FFA926}"/>
              </a:ext>
            </a:extLst>
          </p:cNvPr>
          <p:cNvSpPr txBox="1"/>
          <p:nvPr/>
        </p:nvSpPr>
        <p:spPr>
          <a:xfrm>
            <a:off x="576527" y="6042029"/>
            <a:ext cx="392991"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1000" b="1" dirty="0">
                <a:solidFill>
                  <a:srgbClr val="FF0000"/>
                </a:solidFill>
                <a:latin typeface="Calibri"/>
                <a:cs typeface="Calibri"/>
                <a:sym typeface="Calibri"/>
              </a:rPr>
              <a:t>18</a:t>
            </a:r>
            <a:endParaRPr dirty="0"/>
          </a:p>
        </p:txBody>
      </p:sp>
      <p:cxnSp>
        <p:nvCxnSpPr>
          <p:cNvPr id="192" name="Google Shape;192;p3">
            <a:extLst>
              <a:ext uri="{FF2B5EF4-FFF2-40B4-BE49-F238E27FC236}">
                <a16:creationId xmlns:a16="http://schemas.microsoft.com/office/drawing/2014/main" id="{3448E4EE-A8F9-4BF1-9096-935FC6FECED3}"/>
              </a:ext>
            </a:extLst>
          </p:cNvPr>
          <p:cNvCxnSpPr/>
          <p:nvPr/>
        </p:nvCxnSpPr>
        <p:spPr>
          <a:xfrm>
            <a:off x="1524750" y="1190705"/>
            <a:ext cx="7200000" cy="0"/>
          </a:xfrm>
          <a:prstGeom prst="straightConnector1">
            <a:avLst/>
          </a:prstGeom>
          <a:noFill/>
          <a:ln w="9525" cap="flat" cmpd="sng">
            <a:solidFill>
              <a:srgbClr val="C00000"/>
            </a:solidFill>
            <a:prstDash val="solid"/>
            <a:miter lim="800000"/>
            <a:headEnd type="none" w="sm" len="sm"/>
            <a:tailEnd type="none" w="sm" len="sm"/>
          </a:ln>
        </p:spPr>
      </p:cxnSp>
      <p:sp>
        <p:nvSpPr>
          <p:cNvPr id="193" name="Google Shape;193;p3">
            <a:extLst>
              <a:ext uri="{FF2B5EF4-FFF2-40B4-BE49-F238E27FC236}">
                <a16:creationId xmlns:a16="http://schemas.microsoft.com/office/drawing/2014/main" id="{21DB1B50-3188-158B-18D8-B0BFF85D99A3}"/>
              </a:ext>
            </a:extLst>
          </p:cNvPr>
          <p:cNvSpPr txBox="1"/>
          <p:nvPr/>
        </p:nvSpPr>
        <p:spPr>
          <a:xfrm>
            <a:off x="1583474" y="548667"/>
            <a:ext cx="61395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l-PL" sz="2400" b="1" dirty="0">
                <a:solidFill>
                  <a:schemeClr val="dk1"/>
                </a:solidFill>
              </a:rPr>
              <a:t>Demo - </a:t>
            </a:r>
            <a:r>
              <a:rPr lang="pl-PL" sz="2400" b="1" dirty="0" err="1">
                <a:solidFill>
                  <a:schemeClr val="dk1"/>
                </a:solidFill>
              </a:rPr>
              <a:t>results</a:t>
            </a:r>
            <a:endParaRPr dirty="0"/>
          </a:p>
        </p:txBody>
      </p:sp>
      <p:graphicFrame>
        <p:nvGraphicFramePr>
          <p:cNvPr id="4" name="Table 3">
            <a:extLst>
              <a:ext uri="{FF2B5EF4-FFF2-40B4-BE49-F238E27FC236}">
                <a16:creationId xmlns:a16="http://schemas.microsoft.com/office/drawing/2014/main" id="{83608B99-6FAB-9129-A235-EF888100F1AC}"/>
              </a:ext>
            </a:extLst>
          </p:cNvPr>
          <p:cNvGraphicFramePr>
            <a:graphicFrameLocks noGrp="1"/>
          </p:cNvGraphicFramePr>
          <p:nvPr>
            <p:extLst>
              <p:ext uri="{D42A27DB-BD31-4B8C-83A1-F6EECF244321}">
                <p14:modId xmlns:p14="http://schemas.microsoft.com/office/powerpoint/2010/main" val="3114961773"/>
              </p:ext>
            </p:extLst>
          </p:nvPr>
        </p:nvGraphicFramePr>
        <p:xfrm>
          <a:off x="2328339" y="1408245"/>
          <a:ext cx="5592821" cy="4351340"/>
        </p:xfrm>
        <a:graphic>
          <a:graphicData uri="http://schemas.openxmlformats.org/drawingml/2006/table">
            <a:tbl>
              <a:tblPr>
                <a:tableStyleId>{3C2FFA5D-87B4-456A-9821-1D502468CF0F}</a:tableStyleId>
              </a:tblPr>
              <a:tblGrid>
                <a:gridCol w="580844">
                  <a:extLst>
                    <a:ext uri="{9D8B030D-6E8A-4147-A177-3AD203B41FA5}">
                      <a16:colId xmlns:a16="http://schemas.microsoft.com/office/drawing/2014/main" val="3738633606"/>
                    </a:ext>
                  </a:extLst>
                </a:gridCol>
                <a:gridCol w="809660">
                  <a:extLst>
                    <a:ext uri="{9D8B030D-6E8A-4147-A177-3AD203B41FA5}">
                      <a16:colId xmlns:a16="http://schemas.microsoft.com/office/drawing/2014/main" val="1608060405"/>
                    </a:ext>
                  </a:extLst>
                </a:gridCol>
                <a:gridCol w="673250">
                  <a:extLst>
                    <a:ext uri="{9D8B030D-6E8A-4147-A177-3AD203B41FA5}">
                      <a16:colId xmlns:a16="http://schemas.microsoft.com/office/drawing/2014/main" val="811283298"/>
                    </a:ext>
                  </a:extLst>
                </a:gridCol>
                <a:gridCol w="1148487">
                  <a:extLst>
                    <a:ext uri="{9D8B030D-6E8A-4147-A177-3AD203B41FA5}">
                      <a16:colId xmlns:a16="http://schemas.microsoft.com/office/drawing/2014/main" val="216621169"/>
                    </a:ext>
                  </a:extLst>
                </a:gridCol>
                <a:gridCol w="1148487">
                  <a:extLst>
                    <a:ext uri="{9D8B030D-6E8A-4147-A177-3AD203B41FA5}">
                      <a16:colId xmlns:a16="http://schemas.microsoft.com/office/drawing/2014/main" val="1358830678"/>
                    </a:ext>
                  </a:extLst>
                </a:gridCol>
                <a:gridCol w="1232093">
                  <a:extLst>
                    <a:ext uri="{9D8B030D-6E8A-4147-A177-3AD203B41FA5}">
                      <a16:colId xmlns:a16="http://schemas.microsoft.com/office/drawing/2014/main" val="2932102051"/>
                    </a:ext>
                  </a:extLst>
                </a:gridCol>
              </a:tblGrid>
              <a:tr h="217567">
                <a:tc>
                  <a:txBody>
                    <a:bodyPr/>
                    <a:lstStyle/>
                    <a:p>
                      <a:pPr algn="ctr" fontAlgn="b">
                        <a:buNone/>
                      </a:pPr>
                      <a:r>
                        <a:rPr lang="en-US" sz="1100" u="none" strike="noStrike">
                          <a:effectLst/>
                        </a:rPr>
                        <a:t>Ep 1</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W/D/L=0/0/1</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276354410"/>
                  </a:ext>
                </a:extLst>
              </a:tr>
              <a:tr h="217567">
                <a:tc>
                  <a:txBody>
                    <a:bodyPr/>
                    <a:lstStyle/>
                    <a:p>
                      <a:pPr algn="ctr" fontAlgn="b">
                        <a:buNone/>
                      </a:pPr>
                      <a:r>
                        <a:rPr lang="en-US" sz="1100" u="none" strike="noStrike">
                          <a:effectLst/>
                        </a:rPr>
                        <a:t>Ep 2</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W/D/L=1/0/1</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555141885"/>
                  </a:ext>
                </a:extLst>
              </a:tr>
              <a:tr h="217567">
                <a:tc>
                  <a:txBody>
                    <a:bodyPr/>
                    <a:lstStyle/>
                    <a:p>
                      <a:pPr algn="ctr" fontAlgn="b">
                        <a:buNone/>
                      </a:pPr>
                      <a:r>
                        <a:rPr lang="en-US" sz="1100" u="none" strike="noStrike">
                          <a:effectLst/>
                        </a:rPr>
                        <a:t>Ep 3</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W/D/L=2/0/1</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2758708000"/>
                  </a:ext>
                </a:extLst>
              </a:tr>
              <a:tr h="217567">
                <a:tc>
                  <a:txBody>
                    <a:bodyPr/>
                    <a:lstStyle/>
                    <a:p>
                      <a:pPr algn="ctr" fontAlgn="b">
                        <a:buNone/>
                      </a:pPr>
                      <a:r>
                        <a:rPr lang="en-US" sz="1100" u="none" strike="noStrike">
                          <a:effectLst/>
                        </a:rPr>
                        <a:t>Ep 4</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bank=+2.00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W/D/L=3/0/1</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777434224"/>
                  </a:ext>
                </a:extLst>
              </a:tr>
              <a:tr h="217567">
                <a:tc>
                  <a:txBody>
                    <a:bodyPr/>
                    <a:lstStyle/>
                    <a:p>
                      <a:pPr algn="ctr" fontAlgn="b">
                        <a:buNone/>
                      </a:pPr>
                      <a:r>
                        <a:rPr lang="en-US" sz="1100" u="none" strike="noStrike">
                          <a:effectLst/>
                        </a:rPr>
                        <a:t>Ep 5</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bank=+3.00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W/D/L=4/0/1</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161450354"/>
                  </a:ext>
                </a:extLst>
              </a:tr>
              <a:tr h="217567">
                <a:tc>
                  <a:txBody>
                    <a:bodyPr/>
                    <a:lstStyle/>
                    <a:p>
                      <a:pPr algn="ctr" fontAlgn="b">
                        <a:buNone/>
                      </a:pPr>
                      <a:r>
                        <a:rPr lang="en-US" sz="1100" u="none" strike="noStrike">
                          <a:effectLst/>
                        </a:rPr>
                        <a:t>Ep 6</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bank=+2.00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W/D/L=4/0/2</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4260300237"/>
                  </a:ext>
                </a:extLst>
              </a:tr>
              <a:tr h="217567">
                <a:tc>
                  <a:txBody>
                    <a:bodyPr/>
                    <a:lstStyle/>
                    <a:p>
                      <a:pPr algn="ctr" fontAlgn="b">
                        <a:buNone/>
                      </a:pPr>
                      <a:r>
                        <a:rPr lang="en-US" sz="1100" u="none" strike="noStrike">
                          <a:effectLst/>
                        </a:rPr>
                        <a:t>Ep 7</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bank=+3.00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W/D/L=5/0/2</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997704329"/>
                  </a:ext>
                </a:extLst>
              </a:tr>
              <a:tr h="217567">
                <a:tc>
                  <a:txBody>
                    <a:bodyPr/>
                    <a:lstStyle/>
                    <a:p>
                      <a:pPr algn="ctr" fontAlgn="b">
                        <a:buNone/>
                      </a:pPr>
                      <a:r>
                        <a:rPr lang="en-US" sz="1100" u="none" strike="noStrike">
                          <a:effectLst/>
                        </a:rPr>
                        <a:t>Ep 8</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bank=+2.00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W/D/L=5/0/3</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197279204"/>
                  </a:ext>
                </a:extLst>
              </a:tr>
              <a:tr h="217567">
                <a:tc>
                  <a:txBody>
                    <a:bodyPr/>
                    <a:lstStyle/>
                    <a:p>
                      <a:pPr algn="ctr" fontAlgn="b">
                        <a:buNone/>
                      </a:pPr>
                      <a:r>
                        <a:rPr lang="en-US" sz="1100" u="none" strike="noStrike">
                          <a:effectLst/>
                        </a:rPr>
                        <a:t>Ep 9</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W/D/L=5/0/4</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1310496762"/>
                  </a:ext>
                </a:extLst>
              </a:tr>
              <a:tr h="217567">
                <a:tc>
                  <a:txBody>
                    <a:bodyPr/>
                    <a:lstStyle/>
                    <a:p>
                      <a:pPr algn="ctr" fontAlgn="b">
                        <a:buNone/>
                      </a:pPr>
                      <a:r>
                        <a:rPr lang="en-US" sz="1100" u="none" strike="noStrike">
                          <a:effectLst/>
                        </a:rPr>
                        <a:t>Ep 10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W/D/L=5/0/5</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349236455"/>
                  </a:ext>
                </a:extLst>
              </a:tr>
              <a:tr h="217567">
                <a:tc>
                  <a:txBody>
                    <a:bodyPr/>
                    <a:lstStyle/>
                    <a:p>
                      <a:pPr algn="ctr" fontAlgn="b">
                        <a:buNone/>
                      </a:pPr>
                      <a:r>
                        <a:rPr lang="en-US" sz="1100" u="none" strike="noStrike">
                          <a:effectLst/>
                        </a:rPr>
                        <a:t>Ep 11</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W/D/L=6/0/5</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91643781"/>
                  </a:ext>
                </a:extLst>
              </a:tr>
              <a:tr h="217567">
                <a:tc>
                  <a:txBody>
                    <a:bodyPr/>
                    <a:lstStyle/>
                    <a:p>
                      <a:pPr algn="ctr" fontAlgn="b">
                        <a:buNone/>
                      </a:pPr>
                      <a:r>
                        <a:rPr lang="en-US" sz="1100" u="none" strike="noStrike">
                          <a:effectLst/>
                        </a:rPr>
                        <a:t>Ep 12</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DRAW</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W/D/L=6/1/5</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1373768137"/>
                  </a:ext>
                </a:extLst>
              </a:tr>
              <a:tr h="217567">
                <a:tc>
                  <a:txBody>
                    <a:bodyPr/>
                    <a:lstStyle/>
                    <a:p>
                      <a:pPr algn="ctr" fontAlgn="b">
                        <a:buNone/>
                      </a:pPr>
                      <a:r>
                        <a:rPr lang="en-US" sz="1100" u="none" strike="noStrike">
                          <a:effectLst/>
                        </a:rPr>
                        <a:t>Ep 13</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W/D/L=6/1/6</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893817983"/>
                  </a:ext>
                </a:extLst>
              </a:tr>
              <a:tr h="217567">
                <a:tc>
                  <a:txBody>
                    <a:bodyPr/>
                    <a:lstStyle/>
                    <a:p>
                      <a:pPr algn="ctr" fontAlgn="b">
                        <a:buNone/>
                      </a:pPr>
                      <a:r>
                        <a:rPr lang="en-US" sz="1100" u="none" strike="noStrike">
                          <a:effectLst/>
                        </a:rPr>
                        <a:t>Ep 14</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W/D/L=7/1/6</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355053878"/>
                  </a:ext>
                </a:extLst>
              </a:tr>
              <a:tr h="217567">
                <a:tc>
                  <a:txBody>
                    <a:bodyPr/>
                    <a:lstStyle/>
                    <a:p>
                      <a:pPr algn="ctr" fontAlgn="b">
                        <a:buNone/>
                      </a:pPr>
                      <a:r>
                        <a:rPr lang="en-US" sz="1100" u="none" strike="noStrike">
                          <a:effectLst/>
                        </a:rPr>
                        <a:t>Ep 15</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bank=+2.00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W/D/L=8/1/6</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2769249193"/>
                  </a:ext>
                </a:extLst>
              </a:tr>
              <a:tr h="217567">
                <a:tc>
                  <a:txBody>
                    <a:bodyPr/>
                    <a:lstStyle/>
                    <a:p>
                      <a:pPr algn="ctr" fontAlgn="b">
                        <a:buNone/>
                      </a:pPr>
                      <a:r>
                        <a:rPr lang="en-US" sz="1100" u="none" strike="noStrike">
                          <a:effectLst/>
                        </a:rPr>
                        <a:t>Ep 16</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W/D/L=8/1/7</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2151738510"/>
                  </a:ext>
                </a:extLst>
              </a:tr>
              <a:tr h="217567">
                <a:tc>
                  <a:txBody>
                    <a:bodyPr/>
                    <a:lstStyle/>
                    <a:p>
                      <a:pPr algn="ctr" fontAlgn="b">
                        <a:buNone/>
                      </a:pPr>
                      <a:r>
                        <a:rPr lang="en-US" sz="1100" u="none" strike="noStrike">
                          <a:effectLst/>
                        </a:rPr>
                        <a:t>Ep 17</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WIN</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bank=+2.00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W/D/L=9/1/7</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267311778"/>
                  </a:ext>
                </a:extLst>
              </a:tr>
              <a:tr h="217567">
                <a:tc>
                  <a:txBody>
                    <a:bodyPr/>
                    <a:lstStyle/>
                    <a:p>
                      <a:pPr algn="ctr" fontAlgn="b">
                        <a:buNone/>
                      </a:pPr>
                      <a:r>
                        <a:rPr lang="en-US" sz="1100" u="none" strike="noStrike">
                          <a:effectLst/>
                        </a:rPr>
                        <a:t>Ep 18</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W/D/L=9/1/8</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1484014673"/>
                  </a:ext>
                </a:extLst>
              </a:tr>
              <a:tr h="217567">
                <a:tc>
                  <a:txBody>
                    <a:bodyPr/>
                    <a:lstStyle/>
                    <a:p>
                      <a:pPr algn="ctr" fontAlgn="b">
                        <a:buNone/>
                      </a:pPr>
                      <a:r>
                        <a:rPr lang="en-US" sz="1100" u="none" strike="noStrike">
                          <a:effectLst/>
                        </a:rPr>
                        <a:t>Ep 19</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LOSS</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ep=-1.00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W/D/L=9/1/9</a:t>
                      </a:r>
                      <a:endParaRPr lang="en-US" sz="1100" b="0" i="0" u="none" strike="noStrike">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219663332"/>
                  </a:ext>
                </a:extLst>
              </a:tr>
              <a:tr h="217567">
                <a:tc>
                  <a:txBody>
                    <a:bodyPr/>
                    <a:lstStyle/>
                    <a:p>
                      <a:pPr algn="ctr" fontAlgn="b">
                        <a:buNone/>
                      </a:pPr>
                      <a:r>
                        <a:rPr lang="en-US" sz="1100" u="none" strike="noStrike" dirty="0">
                          <a:effectLst/>
                        </a:rPr>
                        <a:t>Ep 20</a:t>
                      </a:r>
                      <a:endParaRPr lang="en-US" sz="1100" b="0" i="0" u="none" strike="noStrike" dirty="0">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RESULT:</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DRAW</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ep=+0.00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a:effectLst/>
                        </a:rPr>
                        <a:t>bank=+0.00</a:t>
                      </a:r>
                      <a:endParaRPr lang="en-US" sz="1100" b="0" i="0" u="none" strike="noStrike">
                        <a:solidFill>
                          <a:srgbClr val="000000"/>
                        </a:solidFill>
                        <a:effectLst/>
                        <a:latin typeface="Aptos Narrow" panose="020B0004020202020204" pitchFamily="34" charset="0"/>
                      </a:endParaRPr>
                    </a:p>
                  </a:txBody>
                  <a:tcPr marL="9065" marR="9065" marT="9065" marB="0" anchor="ctr"/>
                </a:tc>
                <a:tc>
                  <a:txBody>
                    <a:bodyPr/>
                    <a:lstStyle/>
                    <a:p>
                      <a:pPr algn="ctr" fontAlgn="b">
                        <a:buNone/>
                      </a:pPr>
                      <a:r>
                        <a:rPr lang="en-US" sz="1100" u="none" strike="noStrike" dirty="0">
                          <a:effectLst/>
                        </a:rPr>
                        <a:t>W/D/L=9/2/9</a:t>
                      </a:r>
                      <a:endParaRPr lang="en-US" sz="1100" b="0" i="0" u="none" strike="noStrike" dirty="0">
                        <a:solidFill>
                          <a:srgbClr val="000000"/>
                        </a:solidFill>
                        <a:effectLst/>
                        <a:latin typeface="Aptos Narrow" panose="020B0004020202020204" pitchFamily="34" charset="0"/>
                      </a:endParaRPr>
                    </a:p>
                  </a:txBody>
                  <a:tcPr marL="9065" marR="9065" marT="9065" marB="0" anchor="ctr"/>
                </a:tc>
                <a:extLst>
                  <a:ext uri="{0D108BD9-81ED-4DB2-BD59-A6C34878D82A}">
                    <a16:rowId xmlns:a16="http://schemas.microsoft.com/office/drawing/2014/main" val="3020284421"/>
                  </a:ext>
                </a:extLst>
              </a:tr>
            </a:tbl>
          </a:graphicData>
        </a:graphic>
      </p:graphicFrame>
    </p:spTree>
    <p:extLst>
      <p:ext uri="{BB962C8B-B14F-4D97-AF65-F5344CB8AC3E}">
        <p14:creationId xmlns:p14="http://schemas.microsoft.com/office/powerpoint/2010/main" val="1673045134"/>
      </p:ext>
    </p:extLst>
  </p:cSld>
  <p:clrMapOvr>
    <a:masterClrMapping/>
  </p:clrMapOvr>
</p:sld>
</file>

<file path=ppt/theme/theme1.xml><?xml version="1.0" encoding="utf-8"?>
<a:theme xmlns:a="http://schemas.openxmlformats.org/drawingml/2006/main" name="wne2">
  <a:themeElements>
    <a:clrScheme name="Pakiet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yw pakietu Office">
  <a:themeElements>
    <a:clrScheme name="Motyw pakietu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2498</TotalTime>
  <Words>1512</Words>
  <Application>Microsoft Macintosh PowerPoint</Application>
  <PresentationFormat>On-screen Show (4:3)</PresentationFormat>
  <Paragraphs>261</Paragraphs>
  <Slides>18</Slides>
  <Notes>18</Notes>
  <HiddenSlides>0</HiddenSlides>
  <MMClips>1</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18</vt:i4>
      </vt:variant>
    </vt:vector>
  </HeadingPairs>
  <TitlesOfParts>
    <vt:vector size="24" baseType="lpstr">
      <vt:lpstr>Aptos Narrow</vt:lpstr>
      <vt:lpstr>Arial</vt:lpstr>
      <vt:lpstr>Calibri</vt:lpstr>
      <vt:lpstr>Wingdings</vt:lpstr>
      <vt:lpstr>wne2</vt:lpstr>
      <vt:lpstr>Motyw pakietu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Piotr R</dc:creator>
  <cp:lastModifiedBy>Piotr Radziszewski</cp:lastModifiedBy>
  <cp:revision>17</cp:revision>
  <dcterms:created xsi:type="dcterms:W3CDTF">2021-11-01T17:37:41Z</dcterms:created>
  <dcterms:modified xsi:type="dcterms:W3CDTF">2026-01-19T19:26:09Z</dcterms:modified>
</cp:coreProperties>
</file>